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1" r:id="rId4"/>
    <p:sldId id="262" r:id="rId5"/>
    <p:sldId id="263" r:id="rId6"/>
    <p:sldId id="277" r:id="rId7"/>
    <p:sldId id="282" r:id="rId8"/>
    <p:sldId id="257" r:id="rId9"/>
    <p:sldId id="258" r:id="rId10"/>
    <p:sldId id="259" r:id="rId11"/>
    <p:sldId id="260" r:id="rId12"/>
    <p:sldId id="261" r:id="rId13"/>
    <p:sldId id="265" r:id="rId14"/>
    <p:sldId id="278" r:id="rId15"/>
    <p:sldId id="283" r:id="rId16"/>
    <p:sldId id="267" r:id="rId17"/>
    <p:sldId id="268" r:id="rId18"/>
    <p:sldId id="269" r:id="rId19"/>
    <p:sldId id="270" r:id="rId20"/>
    <p:sldId id="271" r:id="rId21"/>
    <p:sldId id="272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0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7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8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9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0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4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13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3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16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image" Target="../media/image17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Relationship Id="rId3" Type="http://schemas.openxmlformats.org/officeDocument/2006/relationships/image" Target="../media/image18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3335" y="0"/>
            <a:ext cx="12205335" cy="50787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1215" y="914400"/>
            <a:ext cx="10309225" cy="2570480"/>
          </a:xfrm>
        </p:spPr>
        <p:txBody>
          <a:bodyPr/>
          <a:p>
            <a:r>
              <a:rPr lang="de-DE" altLang="en-US" sz="5400" b="1">
                <a:latin typeface="Calibri" panose="020F0502020204030204" charset="0"/>
              </a:rPr>
              <a:t> Data Imputation - AML Dataset</a:t>
            </a:r>
            <a:endParaRPr lang="de-DE" altLang="en-US" sz="5400" b="1">
              <a:latin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881755"/>
            <a:ext cx="9799320" cy="2822575"/>
          </a:xfrm>
        </p:spPr>
        <p:txBody>
          <a:bodyPr>
            <a:normAutofit/>
          </a:bodyPr>
          <a:p>
            <a:r>
              <a:rPr lang="de-DE" altLang="en-US" sz="3600" b="1">
                <a:solidFill>
                  <a:schemeClr val="tx1"/>
                </a:solidFill>
                <a:latin typeface="Calibri" panose="020F0502020204030204" charset="0"/>
              </a:rPr>
              <a:t>For Survival Analysis</a:t>
            </a:r>
            <a:endParaRPr lang="de-DE" altLang="en-US" sz="3600" b="1">
              <a:solidFill>
                <a:schemeClr val="tx1"/>
              </a:solidFill>
              <a:latin typeface="Calibri" panose="020F0502020204030204" charset="0"/>
            </a:endParaRPr>
          </a:p>
          <a:p>
            <a:endParaRPr lang="de-DE" altLang="en-US" sz="2800" b="1">
              <a:solidFill>
                <a:schemeClr val="tx1"/>
              </a:solidFill>
              <a:latin typeface="Calibri" panose="020F0502020204030204" charset="0"/>
            </a:endParaRPr>
          </a:p>
          <a:p>
            <a:r>
              <a:rPr lang="de-DE" altLang="en-US" sz="2800" b="1">
                <a:solidFill>
                  <a:schemeClr val="tx1"/>
                </a:solidFill>
                <a:latin typeface="Calibri" panose="020F0502020204030204" charset="0"/>
              </a:rPr>
              <a:t>Ayca Öztürk</a:t>
            </a:r>
            <a:endParaRPr lang="de-DE" altLang="en-US" sz="2800" b="1">
              <a:solidFill>
                <a:schemeClr val="tx1"/>
              </a:solidFill>
              <a:latin typeface="Calibri" panose="020F0502020204030204" charset="0"/>
            </a:endParaRPr>
          </a:p>
        </p:txBody>
      </p:sp>
      <p:pic>
        <p:nvPicPr>
          <p:cNvPr id="10" name="Picture 9" descr="ukww-removebg-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655" y="133350"/>
            <a:ext cx="3395345" cy="11137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30575"/>
            <a:ext cx="10969200" cy="705600"/>
          </a:xfrm>
        </p:spPr>
        <p:txBody>
          <a:bodyPr/>
          <a:p>
            <a:r>
              <a:rPr lang="de-DE" altLang="en-US" sz="3200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Proposed AML Pipeline (first survival, then digital twins)</a:t>
            </a:r>
            <a:endParaRPr lang="de-DE" altLang="en-US" sz="3200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935990"/>
            <a:ext cx="10968990" cy="5921375"/>
          </a:xfrm>
        </p:spPr>
        <p:txBody>
          <a:bodyPr>
            <a:normAutofit fontScale="90000" lnSpcReduction="10000"/>
          </a:bodyPr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Missing value analysis </a:t>
            </a:r>
            <a:endParaRPr lang="de-DE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Remove unusable features </a:t>
            </a:r>
            <a:endParaRPr lang="de-DE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Train/Validation/Test split </a:t>
            </a:r>
            <a:endParaRPr lang="de-DE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MICE/data imputation</a:t>
            </a:r>
            <a:endParaRPr lang="de-DE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en-US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Exploratory</a:t>
            </a:r>
            <a:r>
              <a:rPr lang="de-DE" altLang="en-US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de-DE" altLang="en-US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Data analysis (EDA) (relationships, patterns, errors, imbalance, unusual values etc.)</a:t>
            </a:r>
            <a:endParaRPr lang="de-DE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Encode categorical variables (→models need numerical input)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Normalize numerical variables (→numerical features have different ranges→apply scaling)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Feature selection (which variables are included in the model?)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Survival models (from baseline to more advanced)</a:t>
            </a: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cox ph model</a:t>
            </a:r>
            <a:endParaRPr lang="de-DE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random survival forest</a:t>
            </a:r>
            <a:endParaRPr lang="de-DE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r>
              <a:rPr lang="de-DE" altLang="en-US" sz="16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deepsurv</a:t>
            </a:r>
            <a:endParaRPr lang="de-DE" altLang="en-US" sz="16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Model evaluation &amp; Model comparison &amp; Fine-Tuning</a:t>
            </a:r>
            <a:endParaRPr lang="de-DE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Model expainability</a:t>
            </a:r>
            <a:endParaRPr lang="de-DE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Patient digital twin generation</a:t>
            </a:r>
            <a:endParaRPr lang="de-DE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lvl="0" indent="-342900">
              <a:lnSpc>
                <a:spcPct val="110000"/>
              </a:lnSpc>
              <a:buFont typeface="+mj-lt"/>
              <a:buAutoNum type="arabicPeriod"/>
            </a:pPr>
            <a:r>
              <a:rPr lang="de-DE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Treatment simulation/Personalized survival prediction</a:t>
            </a:r>
            <a:endParaRPr lang="de-DE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lnSpc>
                <a:spcPct val="110000"/>
              </a:lnSpc>
              <a:buFont typeface="+mj-lt"/>
              <a:buAutoNum type="alphaLcParenR"/>
            </a:pP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endParaRPr lang="de-DE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Data Imputation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1148695" cy="5050790"/>
          </a:xfrm>
        </p:spPr>
        <p:txBody>
          <a:bodyPr>
            <a:normAutofit lnSpcReduction="20000"/>
          </a:bodyPr>
          <a:p>
            <a:r>
              <a:rPr lang="en-US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the process of replacing missing values to obtain a </a:t>
            </a:r>
            <a:r>
              <a:rPr lang="de-DE" altLang="en-US" sz="2000" i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more</a:t>
            </a:r>
            <a:r>
              <a:rPr lang="de-DE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complete dataset for downstream analysis</a:t>
            </a:r>
            <a:endParaRPr lang="en-US" altLang="en-US" sz="20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mean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median</a:t>
            </a:r>
            <a:r>
              <a:rPr lang="de-DE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                         they ignore the relationships between variables and produce bias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zero filling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0"/>
            <a:r>
              <a:rPr lang="de-DE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Alternative: MICE (</a:t>
            </a:r>
            <a:r>
              <a:rPr lang="en-US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Multiple Imputation by Chained Equations</a:t>
            </a:r>
            <a:r>
              <a:rPr lang="de-DE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)</a:t>
            </a:r>
            <a:endParaRPr lang="de-DE" altLang="en-US" sz="202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0"/>
            <a:r>
              <a:rPr lang="de-DE" altLang="en-US" sz="2025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GOAL:</a:t>
            </a:r>
            <a:r>
              <a:rPr lang="en-US" altLang="en-US" sz="2025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not only to fill missing values, but to do so in a</a:t>
            </a:r>
            <a:r>
              <a:rPr lang="de-DE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logical</a:t>
            </a:r>
            <a:r>
              <a:rPr lang="en-US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way </a:t>
            </a:r>
            <a:r>
              <a:rPr lang="de-DE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lang="en-US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the </a:t>
            </a:r>
            <a:r>
              <a:rPr lang="de-DE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survival </a:t>
            </a:r>
            <a:r>
              <a:rPr lang="en-US" altLang="en-US" sz="202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prediction </a:t>
            </a:r>
            <a:endParaRPr lang="en-US" altLang="en-US" sz="202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032760" y="2262505"/>
            <a:ext cx="162560" cy="1350010"/>
          </a:xfrm>
          <a:prstGeom prst="rightBrac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00755"/>
            <a:ext cx="10969200" cy="705600"/>
          </a:xfrm>
        </p:spPr>
        <p:txBody>
          <a:bodyPr/>
          <a:p>
            <a:r>
              <a:rPr lang="de-DE" altLang="en-US">
                <a:latin typeface="Calibri" panose="020F0502020204030204" charset="0"/>
              </a:rPr>
              <a:t>MICE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1505" y="1226185"/>
            <a:ext cx="10968990" cy="5367020"/>
          </a:xfrm>
        </p:spPr>
        <p:txBody>
          <a:bodyPr>
            <a:noAutofit/>
          </a:bodyPr>
          <a:p>
            <a:r>
              <a:rPr lang="de-DE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u</a:t>
            </a:r>
            <a:r>
              <a:rPr lang="en-US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ses information from other variables to estimate missing values iteratively.</a:t>
            </a:r>
            <a:endParaRPr lang="en-US" altLang="en-US" sz="20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de-DE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lang="en-US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nstead of filling missing values with a single statistic (e.g., mean or median), MICE builds predictive models for each variable with missing data, resulting in more realistic imputations.</a:t>
            </a:r>
            <a:endParaRPr lang="en-US" altLang="en-US" sz="20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Why MICE?</a:t>
            </a:r>
            <a:endParaRPr lang="en-US" altLang="en-US" sz="20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Preserves relationships between variables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more realistic estimates than mean or median imputation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Suitable for datasets containing both numerical and categorical variables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Widely used for clinical and biomedical datasets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48990"/>
            <a:ext cx="10969200" cy="705600"/>
          </a:xfrm>
        </p:spPr>
        <p:txBody>
          <a:bodyPr/>
          <a:p>
            <a:r>
              <a:rPr lang="de-DE" altLang="en-US" sz="2800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Data Preprocessing Pipeline </a:t>
            </a:r>
            <a:r>
              <a:rPr lang="de-DE" altLang="en-US" sz="2800" b="1" i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Clinical Patient</a:t>
            </a:r>
            <a:r>
              <a:rPr lang="de-DE" altLang="en-US" sz="2800" b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 for survival modeling</a:t>
            </a:r>
            <a:endParaRPr lang="de-DE" altLang="en-US" sz="2800" b="1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68605" y="954405"/>
            <a:ext cx="11770995" cy="5798820"/>
          </a:xfrm>
        </p:spPr>
        <p:txBody>
          <a:bodyPr>
            <a:noAutofit/>
          </a:bodyPr>
          <a:p>
            <a:pPr marL="342900" indent="-342900">
              <a:buAutoNum type="arabicPeriod"/>
            </a:pP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Missingness analysis (identifying features with great/est missingness)(which features are missing with what %?)</a:t>
            </a:r>
            <a:endParaRPr lang="de-DE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Eliminating unusable (very high missing) features→reduced dataset   !BUT keep clinically important/relevant ones! →ask an expert</a:t>
            </a:r>
            <a:endParaRPr lang="de-DE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Define</a:t>
            </a: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patient ID, predictors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(input variables to predict outcomes, e.g. age,sex,race,wbc,chloroma)</a:t>
            </a: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, and outcomes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(results we want to predict, e.g. risk group, os status)</a:t>
            </a:r>
            <a:endParaRPr lang="de-DE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Remove patients with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missing</a:t>
            </a: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survival outcomes</a:t>
            </a:r>
            <a:endParaRPr lang="de-DE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Select variables according to prediction time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(baseline: </a:t>
            </a: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At diagnosis, before treatment response is known, can we predict future survival?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So we dont use e.g. mrd% after course 1)</a:t>
            </a:r>
            <a:endParaRPr lang="en-US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Split patients into: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70% train / 15% validation / 15% test</a:t>
            </a:r>
            <a:endParaRPr lang="en-US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Fit MICE-like imputer on training data only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(only predictors were imputed, outcome variables -e.g. os_days, risk group etc-</a:t>
            </a: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were not imputed because they are prediction targets and imputing them could introduce target leakag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de-DE" altLang="en-US" sz="1600" b="1" spc="0">
              <a:solidFill>
                <a:schemeClr val="tx1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de-DE" altLang="en-US" sz="1400" b="1" spc="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For numerical values:</a:t>
            </a:r>
            <a:r>
              <a:rPr lang="de-DE" altLang="en-US" sz="1400" spc="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MICE (IterativeImputer was used as MICE-like imputer) </a:t>
            </a:r>
            <a:r>
              <a:rPr lang="de-DE" altLang="en-US" sz="1400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US" altLang="en-US" sz="1400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Each incomplete numeric feature is modeled using the other numeric features.</a:t>
            </a:r>
            <a:endParaRPr lang="en-US" altLang="en-US" sz="1400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lvl="1"/>
            <a:r>
              <a:rPr lang="de-DE" altLang="en-US" sz="1400" b="1" spc="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For categorical values:</a:t>
            </a:r>
            <a:r>
              <a:rPr lang="de-DE" altLang="en-US" sz="1400" spc="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 the most frequent </a:t>
            </a:r>
            <a:endParaRPr lang="en-US" altLang="en-US" sz="14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Apply the fitted imputer to: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validation, and testing</a:t>
            </a:r>
            <a:r>
              <a:rPr lang="de-DE" altLang="en-US" sz="16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sets</a:t>
            </a:r>
            <a:endParaRPr lang="en-US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de-DE" altLang="en-US" sz="16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6320" y="429330"/>
            <a:ext cx="10969200" cy="705600"/>
          </a:xfrm>
        </p:spPr>
        <p:txBody>
          <a:bodyPr/>
          <a:p>
            <a:r>
              <a:rPr lang="de-DE" altLang="en-US">
                <a:latin typeface="Calibri" panose="020F0502020204030204" charset="0"/>
              </a:rPr>
              <a:t>Metadata: outcomes from clinical patient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2885" y="1314450"/>
            <a:ext cx="4327525" cy="5459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410" y="1313815"/>
            <a:ext cx="3909060" cy="5372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748790"/>
            <a:ext cx="3810000" cy="33604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Data_Clinical_Patient Dataset Overview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Property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Value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Number of patients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899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Number of variables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35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Overall missing values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≈5.5% of all entries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Missingness Summary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7550" y="1490345"/>
            <a:ext cx="4072255" cy="4759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535" y="1388110"/>
            <a:ext cx="4450080" cy="48615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Missing Percentage per Column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51000" y="1567180"/>
            <a:ext cx="8759190" cy="42964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Missingness Matrix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61515" y="1313815"/>
            <a:ext cx="8261985" cy="51047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Features with the highest missingness (&gt;=20%!!)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12365" y="1633855"/>
            <a:ext cx="7367905" cy="35902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26465" y="5621655"/>
            <a:ext cx="9204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But </a:t>
            </a:r>
            <a:r>
              <a:rPr lang="en-US" altLang="en-US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CKIT_EXON_17_MUTATION</a:t>
            </a:r>
            <a:r>
              <a:rPr lang="de-DE" altLang="en-US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and </a:t>
            </a:r>
            <a:r>
              <a:rPr lang="en-US" altLang="en-US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CKIT_EXON_8_MUTATION</a:t>
            </a:r>
            <a:r>
              <a:rPr lang="de-DE" altLang="en-US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seem to be important for AML EXCLUDE FIRST THEN  SEE HOW IT GOES</a:t>
            </a:r>
            <a:endParaRPr lang="de-DE" altLang="en-US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de-DE" altLang="en-US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en-US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Feature removal should also consider clinical relevance, not only missing percentage.</a:t>
            </a:r>
            <a:endParaRPr lang="en-US" altLang="en-US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Eliminated (reduced) Features: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79015" y="1677670"/>
            <a:ext cx="7627620" cy="19646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07085" y="3556635"/>
            <a:ext cx="7451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latin typeface="Calibri" panose="020F0502020204030204" charset="0"/>
              </a:rPr>
              <a:t> 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87450" y="4191635"/>
            <a:ext cx="94005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 sz="2400">
                <a:latin typeface="Calibri" panose="020F0502020204030204" charset="0"/>
              </a:rPr>
              <a:t>Remaining features: 31</a:t>
            </a:r>
            <a:endParaRPr lang="de-DE" altLang="en-US" sz="2400">
              <a:latin typeface="Calibri" panose="020F0502020204030204" charset="0"/>
            </a:endParaRPr>
          </a:p>
          <a:p>
            <a:r>
              <a:rPr lang="de-DE" altLang="en-US" sz="2400">
                <a:latin typeface="Calibri" panose="020F0502020204030204" charset="0"/>
              </a:rPr>
              <a:t>The treshold can be altered. 50% was used as a start/example value  </a:t>
            </a:r>
            <a:endParaRPr lang="de-DE" altLang="en-US" sz="2400">
              <a:latin typeface="Calibri" panose="020F0502020204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3310" y="268040"/>
            <a:ext cx="10969200" cy="705600"/>
          </a:xfrm>
        </p:spPr>
        <p:txBody>
          <a:bodyPr>
            <a:normAutofit fontScale="90000"/>
          </a:bodyPr>
          <a:p>
            <a:r>
              <a:rPr lang="de-DE" altLang="en-US" b="1" spc="0">
                <a:latin typeface="Calibri" panose="020F0502020204030204" charset="0"/>
                <a:sym typeface="+mn-ea"/>
              </a:rPr>
              <a:t>Data Preprocessing Pipeline </a:t>
            </a:r>
            <a:r>
              <a:rPr lang="de-DE" altLang="en-US" b="1" i="1" spc="0">
                <a:latin typeface="Calibri" panose="020F0502020204030204" charset="0"/>
                <a:sym typeface="+mn-ea"/>
              </a:rPr>
              <a:t>Clinical Sample</a:t>
            </a:r>
            <a:r>
              <a:rPr lang="de-DE" altLang="en-US" b="1" spc="0">
                <a:latin typeface="Calibri" panose="020F0502020204030204" charset="0"/>
                <a:sym typeface="+mn-ea"/>
              </a:rPr>
              <a:t> for survival modeling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11455" y="1207135"/>
            <a:ext cx="11743690" cy="5651500"/>
          </a:xfrm>
        </p:spPr>
        <p:txBody>
          <a:bodyPr>
            <a:noAutofit/>
          </a:bodyPr>
          <a:p>
            <a:pPr marL="342900" indent="-342900">
              <a:buAutoNum type="arabicPeriod"/>
            </a:pP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Missingness analysis (identifying features with great/est missingness)</a:t>
            </a:r>
            <a:endParaRPr lang="de-DE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Eliminating unusable features→ reduced dataset</a:t>
            </a:r>
            <a:endParaRPr lang="de-DE" altLang="en-US" b="1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AutoNum type="arabicPeriod"/>
            </a:pP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Assign samples according to patient-level splits</a:t>
            </a: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(so that test,train,val sets are consistent for both clinical patient and clinical sample sets </a:t>
            </a: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to prevent patient-level data leakage</a:t>
            </a: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)</a:t>
            </a:r>
            <a:endParaRPr lang="de-DE" altLang="en-US" b="1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AutoNum type="arabicPeriod"/>
            </a:pP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Create missingness indicators</a:t>
            </a: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(which features will be imputed?)</a:t>
            </a:r>
            <a:endParaRPr lang="de-DE" altLang="en-US" b="1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lvl="1"/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For high-missing categorical biomarkers</a:t>
            </a: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an explicit "Missing" category </a:t>
            </a: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is created (because keeping them as „Missing“ </a:t>
            </a: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can be more honest than replacing them with the </a:t>
            </a:r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most frequent, so that it does not lead to incorrect outcomes)</a:t>
            </a: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.</a:t>
            </a:r>
            <a:endParaRPr lang="en-US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AutoNum type="arabicPeriod"/>
            </a:pP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Fit imputers only on training samples</a:t>
            </a:r>
            <a:endParaRPr lang="en-US" altLang="en-US" b="1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lvl="1"/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numerical variables</a:t>
            </a:r>
            <a:r>
              <a:rPr lang="en-US" altLang="en-US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with iterative MICE-like imputation;</a:t>
            </a:r>
            <a:endParaRPr lang="en-US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binary 0/1 variables</a:t>
            </a:r>
            <a:r>
              <a:rPr lang="en-US" altLang="en-US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with most-frequent imputation;</a:t>
            </a:r>
            <a:endParaRPr lang="en-US" altLang="en-US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de-DE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categorical : </a:t>
            </a:r>
            <a:r>
              <a:rPr lang="de-DE" altLang="en-US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explicit „missing“ value</a:t>
            </a:r>
            <a:endParaRPr lang="de-DE" altLang="en-US" b="1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AutoNum type="arabicPeriod"/>
            </a:pPr>
            <a:r>
              <a:rPr lang="en-US" altLang="en-US" b="1" spc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Apply fitted imputers to validation and test samples</a:t>
            </a:r>
            <a:endParaRPr lang="de-DE" altLang="en-US" b="1" spc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endParaRPr lang="en-US" altLang="en-US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21685"/>
            <a:ext cx="10969200" cy="705600"/>
          </a:xfrm>
        </p:spPr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Metadata: outcomes from clinical sample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403985"/>
            <a:ext cx="5108575" cy="5292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485" y="1071245"/>
            <a:ext cx="5417185" cy="57105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Data_Clinical_Sample Dataset Overview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Property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Value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Number of patients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899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Number of samples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1025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Number of variables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37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Overall missing values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17,05%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82650" y="4576445"/>
            <a:ext cx="65449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Some patients have multiple samples: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785 patients → 1 sample</a:t>
            </a:r>
            <a:endParaRPr lang="en-US" altLang="en-US"/>
          </a:p>
          <a:p>
            <a:r>
              <a:rPr lang="en-US" altLang="en-US"/>
              <a:t>102 patients → 2 samples</a:t>
            </a:r>
            <a:endParaRPr lang="en-US" altLang="en-US"/>
          </a:p>
          <a:p>
            <a:r>
              <a:rPr lang="en-US" altLang="en-US"/>
              <a:t>12 patients  → 3 samples</a:t>
            </a:r>
            <a:endParaRPr lang="en-US" altLang="en-US"/>
          </a:p>
        </p:txBody>
      </p:sp>
      <p:sp>
        <p:nvSpPr>
          <p:cNvPr id="6" name="Right Brace 5"/>
          <p:cNvSpPr/>
          <p:nvPr/>
        </p:nvSpPr>
        <p:spPr>
          <a:xfrm>
            <a:off x="4316730" y="5073015"/>
            <a:ext cx="142240" cy="11506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697095" y="5319395"/>
            <a:ext cx="5165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latin typeface="Calibri" panose="020F0502020204030204" charset="0"/>
              </a:rPr>
              <a:t>Samples from same patients go to the same subset (train,test, val)</a:t>
            </a:r>
            <a:endParaRPr lang="de-DE" altLang="en-US">
              <a:latin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Missingness Summary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87930" y="1313815"/>
            <a:ext cx="7360920" cy="44653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27350" y="412750"/>
            <a:ext cx="6330315" cy="3841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985" y="4253865"/>
            <a:ext cx="6329680" cy="20599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Missing Percentage per Column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92275" y="1487805"/>
            <a:ext cx="8808085" cy="38823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Missingness Matrix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88135" y="1482725"/>
            <a:ext cx="8850630" cy="41471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Features with the highest missingness (&gt;=50%)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0210" y="1430655"/>
            <a:ext cx="7254240" cy="26898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72160" y="4584065"/>
            <a:ext cx="42310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latin typeface="Calibri" panose="020F0502020204030204" charset="0"/>
              </a:rPr>
              <a:t>Eliminated Features: 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`NUP98_NSD1`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'TMB_NONSYNONYMOUS'</a:t>
            </a:r>
            <a:endParaRPr lang="en-US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'OTHER_SITE_OF_RELAPSE'</a:t>
            </a:r>
            <a:endParaRPr lang="en-US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 'CNS_SITE_OF_RELAPSE'</a:t>
            </a:r>
            <a:endParaRPr lang="en-US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'BONE_MARROW_SITE_OF_RELAPSE'</a:t>
            </a:r>
            <a:endParaRPr lang="en-US" altLang="en-US">
              <a:latin typeface="Calibri" panose="020F050202020403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02935" y="4821555"/>
            <a:ext cx="48818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FLT3_ITD_ALLELIC_RATIO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</a:rPr>
              <a:t> was not eliminated because its value is only present when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FLT3_ITD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</a:rPr>
              <a:t> is positive</a:t>
            </a:r>
            <a:endParaRPr lang="de-DE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491220" y="2160270"/>
            <a:ext cx="289052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de-DE" altLang="en-US" sz="160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FLT3 positive?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de-DE" altLang="en-US" sz="160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│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 ┌────┴─────┐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 │        </a:t>
            </a:r>
            <a:r>
              <a:rPr lang="de-DE" altLang="en-US" sz="160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│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Yes        </a:t>
            </a:r>
            <a:r>
              <a:rPr lang="de-DE" altLang="en-US" sz="160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No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 │          </a:t>
            </a:r>
            <a:r>
              <a:rPr lang="de-DE" altLang="en-US" sz="160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│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Ratio</a:t>
            </a:r>
            <a:r>
              <a:rPr lang="de-DE" altLang="en-US" sz="1600">
                <a:latin typeface="Arial" panose="020B0604020202020204" pitchFamily="34" charset="0"/>
                <a:cs typeface="Arial" panose="020B0604020202020204" pitchFamily="34" charset="0"/>
              </a:rPr>
              <a:t> value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de-DE" altLang="en-US" sz="1600">
                <a:latin typeface="Arial" panose="020B0604020202020204" pitchFamily="34" charset="0"/>
                <a:cs typeface="Arial" panose="020B0604020202020204" pitchFamily="34" charset="0"/>
              </a:rPr>
              <a:t>         ----</a:t>
            </a:r>
            <a:endParaRPr lang="de-DE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FLT3_ITD_POSITIVE = 0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→ FLT3_ITD_ALLELIC_RATIO = 0.0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FLT3_ITD_POSITIVE = 1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and ratio observed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→ keep observed ratio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FLT3_ITD_POSITIVE = 1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and ratio missing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pPr marL="0" indent="0">
              <a:buNone/>
            </a:pPr>
            <a:r>
              <a:rPr lang="en-US" altLang="en-US" spc="0">
                <a:solidFill>
                  <a:schemeClr val="tx1"/>
                </a:solidFill>
                <a:uFillTx/>
              </a:rPr>
              <a:t>→ fill with median ratio from positive training samples</a:t>
            </a:r>
            <a:endParaRPr lang="en-US" altLang="en-US" spc="0">
              <a:solidFill>
                <a:schemeClr val="tx1"/>
              </a:solidFill>
              <a:uFillTx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5443</Words>
  <Application>WPS Presentation</Application>
  <PresentationFormat>Widescreen</PresentationFormat>
  <Paragraphs>183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Pipeline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Dataset: Data Imputation</dc:title>
  <dc:creator/>
  <cp:lastModifiedBy>ayca2</cp:lastModifiedBy>
  <cp:revision>43</cp:revision>
  <dcterms:created xsi:type="dcterms:W3CDTF">2026-07-08T16:21:45Z</dcterms:created>
  <dcterms:modified xsi:type="dcterms:W3CDTF">2026-07-14T07:50:10Z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8DBABC9F55AA490797A89F50F3FB6C36_12</vt:lpwstr>
  </property>
</Properties>
</file>