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AML patient dataset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de-DE" altLang="en-US" sz="2800">
                <a:solidFill>
                  <a:schemeClr val="tx1"/>
                </a:solidFill>
                <a:latin typeface="Calibri" panose="020F0502020204030204" charset="0"/>
              </a:rPr>
              <a:t>Ayca Öztürk</a:t>
            </a:r>
            <a:endParaRPr lang="de-DE" altLang="en-US" sz="2800">
              <a:solidFill>
                <a:schemeClr val="tx1"/>
              </a:solidFill>
              <a:latin typeface="Calibri" panose="020F0502020204030204" charset="0"/>
            </a:endParaRPr>
          </a:p>
        </p:txBody>
      </p:sp>
      <p:pic>
        <p:nvPicPr>
          <p:cNvPr id="10" name="Picture 9" descr="ukww-removebg-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110" y="204470"/>
            <a:ext cx="3395345" cy="11137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Overview: </a:t>
            </a:r>
            <a:r>
              <a:rPr lang="en-US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data_clinical_patient</a:t>
            </a:r>
            <a:endParaRPr lang="en-US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Number of patients: 899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Number of attributes: 35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Data type: Mixed (categorical + numerical)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One row = one patient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r>
              <a:rPr lang="de-DE" altLang="en-US" sz="1800" b="1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Suitable for: </a:t>
            </a:r>
            <a:endParaRPr lang="de-DE" altLang="en-US" sz="1800" b="1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risk prediction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survival analysis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relapse prediction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treatment outcome prediction 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precision medicine</a:t>
            </a:r>
            <a:endParaRPr lang="en-US" altLang="en-US" sz="18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05370" y="1654810"/>
            <a:ext cx="4691380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de-DE" altLang="en-US" b="1">
                <a:latin typeface="Calibri" panose="020F0502020204030204" charset="0"/>
              </a:rPr>
              <a:t>Potential Models:</a:t>
            </a:r>
            <a:endParaRPr lang="de-DE" altLang="en-US" b="1">
              <a:latin typeface="Calibri" panose="020F05020202040302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ClinTall</a:t>
            </a:r>
            <a:endParaRPr lang="en-US" altLang="en-US">
              <a:latin typeface="Calibri" panose="020F05020202040302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TabPFN</a:t>
            </a:r>
            <a:r>
              <a:rPr lang="de-DE" altLang="en-US">
                <a:latin typeface="Calibri" panose="020F0502020204030204" charset="0"/>
              </a:rPr>
              <a:t> 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TabTransformer</a:t>
            </a:r>
            <a:endParaRPr lang="en-US" altLang="en-US">
              <a:latin typeface="Calibri" panose="020F05020202040302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XGBoost</a:t>
            </a:r>
            <a:endParaRPr lang="en-US" altLang="en-US">
              <a:latin typeface="Calibri" panose="020F05020202040302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LightGBM</a:t>
            </a:r>
            <a:endParaRPr lang="en-US" altLang="en-US">
              <a:latin typeface="Calibri" panose="020F05020202040302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DeepSurv</a:t>
            </a:r>
            <a:endParaRPr lang="en-US" altLang="en-US">
              <a:latin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de-DE" altLang="en-US">
                <a:latin typeface="Calibri" panose="020F0502020204030204" charset="0"/>
              </a:rPr>
              <a:t>Variables in the dataset: 1. </a:t>
            </a:r>
            <a:r>
              <a:rPr lang="en-US" altLang="en-US">
                <a:latin typeface="Calibri" panose="020F0502020204030204" charset="0"/>
              </a:rPr>
              <a:t>Patient demographic</a:t>
            </a:r>
            <a:r>
              <a:rPr lang="de-DE" altLang="en-US">
                <a:latin typeface="Calibri" panose="020F0502020204030204" charset="0"/>
              </a:rPr>
              <a:t>s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547440" y="1786310"/>
          <a:ext cx="1096899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r>
                        <a:rPr sz="2000">
                          <a:latin typeface="Calibri" panose="020F0502020204030204" charset="0"/>
                          <a:cs typeface="Calibri" panose="020F0502020204030204" charset="0"/>
                        </a:rPr>
                        <a:t>Variable</a:t>
                      </a:r>
                      <a:endParaRPr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Meaning</a:t>
                      </a:r>
                      <a:endParaRPr lang="de-DE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PATIENT_ID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Unique patient identifier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SEX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Male/Female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GE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Age (years)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AGE_IN_DAYS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Age </a:t>
                      </a:r>
                      <a:r>
                        <a:rPr lang="de-DE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in days</a:t>
                      </a:r>
                      <a:endParaRPr lang="de-DE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RACE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Race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ETHNICITY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Calibri" panose="020F0502020204030204" charset="0"/>
                          <a:cs typeface="Calibri" panose="020F0502020204030204" charset="0"/>
                        </a:rPr>
                        <a:t>Ethnicity</a:t>
                      </a:r>
                      <a:endParaRPr lang="en-US" altLang="en-US" sz="20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2. Initial disease characteristics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Variable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WBC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White blood cell count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BONE_MARROW_LEUKEMIC_BLAST_PERCENTAGE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% leukemic blasts in bone marrow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PERIPHERAL_BLASTS_PERCENTAGE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% blasts in peripheral blood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CNS_DISEASE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Leukemia in central nervous system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CHLOROMA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P</a:t>
                      </a:r>
                      <a:r>
                        <a:rPr lang="en-US" altLang="en-US"/>
                        <a:t>resence of chloroma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F</a:t>
                      </a:r>
                      <a:r>
                        <a:rPr lang="en-US" altLang="en-US"/>
                        <a:t>AB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FAB subtype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3. Cytogenetic / genomic information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PRIMARY_CYTOGENETIC_CODE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Main chromosomal abnormality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CYTOGENETIC_CODE_OTHER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Other abnormalities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CYTOGENETIC_COMPLEXITY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Number of abnormalities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ISCN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Full karyotype notation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OTHER_MLL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</a:t>
                      </a:r>
                      <a:r>
                        <a:rPr lang="en-US" altLang="en-US"/>
                        <a:t>LL rearrangement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C</a:t>
                      </a:r>
                      <a:r>
                        <a:rPr lang="en-US" altLang="en-US"/>
                        <a:t>KIT_EXON_8_MUTATION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C-KIT mutation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CKIT_EXON_17_MUTATION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C-KIT mutation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4. Treatment response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MRD_AT_END_OF_COURSE_1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Minimal residual disease after first induction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MRD_PERCENTAGE_AT_END_OF_COURSE_1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MRD %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MRD_AT_END_OF_COURSE_2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MRD after second induction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MRD_PERCENTAGE_AT_END_OF_COURSE_2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MRD %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CR_STATUS_AT_END_OF_COURSE_1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Complete remission after course 1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CR_STATUS_AT_END_OF_COURSE_2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Complete remission after course 2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5. Risk classification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RISK_GROUP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Low / Standard / High risk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6. Survival / outcome variables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232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r>
                        <a:rPr sz="1800">
                          <a:latin typeface="Calibri" panose="020F0502020204030204" charset="0"/>
                          <a:cs typeface="Calibri" panose="020F0502020204030204" charset="0"/>
                        </a:rPr>
                        <a:t>Variable</a:t>
                      </a:r>
                      <a:endParaRPr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Meaning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DAYS_TO_EVENT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Time until first event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FIRST_EVENT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Relapse / Death / Censored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OS_STATUS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Alive / Deceased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4222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OS_DAYS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Overall survival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OS_MONTHS</a:t>
                      </a:r>
                      <a:endParaRPr lang="en-US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Overall survival</a:t>
                      </a:r>
                      <a:r>
                        <a:rPr lang="de-DE" altLang="en-US" sz="1800">
                          <a:latin typeface="Calibri" panose="020F0502020204030204" charset="0"/>
                          <a:cs typeface="Calibri" panose="020F0502020204030204" charset="0"/>
                        </a:rPr>
                        <a:t> in months</a:t>
                      </a:r>
                      <a:endParaRPr lang="de-DE" altLang="en-US" sz="1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7. Treatment information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</a:t>
                      </a:r>
                      <a:r>
                        <a:rPr lang="en-US" altLang="en-US"/>
                        <a:t>ariable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Meaning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SCT_IN_FIRST_CR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Stem cell transplantation in first remission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8. Relapse information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Variable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CHLOROMA_RELAPSE_SITE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Chloroma at relapse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C</a:t>
                      </a:r>
                      <a:r>
                        <a:rPr lang="en-US" altLang="en-US"/>
                        <a:t>YTOGENETIC_RELAPSE_SITE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Cytogenetic relapse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Overview: </a:t>
            </a:r>
            <a:r>
              <a:rPr lang="en-US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data_clinical_sample</a:t>
            </a:r>
            <a:endParaRPr lang="en-US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pc="0">
                <a:solidFill>
                  <a:schemeClr val="tx1"/>
                </a:solidFill>
                <a:uFillTx/>
              </a:rPr>
              <a:t>~1,000 biological samples (multiple samples can belong to the same patient)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r>
              <a:rPr lang="en-US" altLang="en-US" spc="0">
                <a:solidFill>
                  <a:schemeClr val="tx1"/>
                </a:solidFill>
                <a:uFillTx/>
              </a:rPr>
              <a:t>37 attributes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r>
              <a:rPr lang="en-US" altLang="en-US" spc="0">
                <a:solidFill>
                  <a:schemeClr val="tx1"/>
                </a:solidFill>
                <a:uFillTx/>
              </a:rPr>
              <a:t>Mixed categorical + numerical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r>
              <a:rPr lang="en-US" altLang="en-US" spc="0">
                <a:solidFill>
                  <a:schemeClr val="tx1"/>
                </a:solidFill>
                <a:uFillTx/>
              </a:rPr>
              <a:t>One row = one biological sample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</a:rPr>
              <a:t>One</a:t>
            </a:r>
            <a:r>
              <a:rPr lang="en-US" altLang="en-US" spc="0">
                <a:solidFill>
                  <a:schemeClr val="tx1"/>
                </a:solidFill>
                <a:uFillTx/>
              </a:rPr>
              <a:t> patient</a:t>
            </a:r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</a:rPr>
              <a:t> can</a:t>
            </a:r>
            <a:r>
              <a:rPr lang="en-US" altLang="en-US" spc="0">
                <a:solidFill>
                  <a:schemeClr val="tx1"/>
                </a:solidFill>
                <a:uFillTx/>
              </a:rPr>
              <a:t> have multiple samples (e.g. diagnosis, relapse, follow-up), since there is both a PATIENT_ID and a SAMPLE_ID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endParaRPr lang="en-US" altLang="en-US" spc="0">
              <a:solidFill>
                <a:schemeClr val="tx1"/>
              </a:solidFill>
              <a:uFillTx/>
            </a:endParaRPr>
          </a:p>
          <a:p>
            <a:r>
              <a:rPr lang="en-US" altLang="en-US" spc="0">
                <a:solidFill>
                  <a:schemeClr val="tx1"/>
                </a:solidFill>
                <a:uFillTx/>
              </a:rPr>
              <a:t>clinical_sample dataset contains molecular, cytogenetic and genomic features measured from biological samples</a:t>
            </a:r>
            <a:endParaRPr lang="en-US" altLang="en-US" spc="0">
              <a:solidFill>
                <a:schemeClr val="tx1"/>
              </a:solidFill>
              <a:uFillTx/>
            </a:endParaRPr>
          </a:p>
          <a:p>
            <a:r>
              <a:rPr lang="de-DE" altLang="en-US" spc="0">
                <a:solidFill>
                  <a:schemeClr val="tx1"/>
                </a:solidFill>
                <a:uFillTx/>
                <a:latin typeface="Calibri" panose="020F0502020204030204" charset="0"/>
              </a:rPr>
              <a:t>f</a:t>
            </a:r>
            <a:r>
              <a:rPr lang="en-US" altLang="en-US" spc="0">
                <a:solidFill>
                  <a:schemeClr val="tx1"/>
                </a:solidFill>
                <a:uFillTx/>
              </a:rPr>
              <a:t>ocused on genomics and mutations </a:t>
            </a:r>
            <a:endParaRPr lang="en-US" altLang="en-US" spc="0">
              <a:solidFill>
                <a:schemeClr val="tx1"/>
              </a:solidFill>
              <a:uFillTx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Overview: </a:t>
            </a:r>
            <a:r>
              <a:rPr lang="en-US" altLang="en-US" spc="0">
                <a:latin typeface="Calibri" panose="020F0502020204030204" charset="0"/>
                <a:sym typeface="+mn-ea"/>
              </a:rPr>
              <a:t>data_clinical_sample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de-DE" altLang="en-US" sz="2000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Suitable for:</a:t>
            </a:r>
            <a:endParaRPr lang="en-US" altLang="en-US" sz="2000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Mutation prediction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AML subtype classification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Risk stratification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Precision medicine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Multimodal learning (when combined with the clinical patient dataset)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Biomarker discovery</a:t>
            </a:r>
            <a:r>
              <a:rPr lang="de-DE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anything measurable that provides information about a disease</a:t>
            </a:r>
            <a:r>
              <a:rPr lang="de-DE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775" spc="0">
                <a:solidFill>
                  <a:schemeClr val="tx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Explainable AI (XAI) to identify the genomic features that contribute most to predictions</a:t>
            </a:r>
            <a:endParaRPr lang="en-US" altLang="en-US" sz="1775" spc="0">
              <a:solidFill>
                <a:schemeClr val="tx1"/>
              </a:solidFill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de-DE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Variables in the dataset: </a:t>
            </a:r>
            <a:r>
              <a:rPr lang="en-US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1. Patient / Sample identifier</a:t>
            </a:r>
            <a:endParaRPr lang="en-US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PATIENT_ID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Patient identifier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</a:t>
                      </a:r>
                      <a:r>
                        <a:rPr lang="en-US" altLang="en-US"/>
                        <a:t>AMPLE_ID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Biological sample identifier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94055" y="3198495"/>
            <a:ext cx="9116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one patient can have multiple samples.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2. Chromosomal translocations (gene fusions)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T_6_9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t(6;9) translocation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T_8_21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t(8;21) translocation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T_3_5_Q25_Q34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t(3;5)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T_6_11_Q27_Q23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t(6;11)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T_9_11_P22_Q23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t(9;11)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T_10_11_P11_2_Q23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t(10;11)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T_11_19_Q23_P13_1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t(11;19)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INV_16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inversion 16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3. Chromosomal abnormalities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DEL_5Q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Deletion of chromosome 5q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DEL_7Q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Deletion of chromosome 7q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DEL_9Q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Deletion of chromosome 9q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MONOSOMY_5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Missing chromosome 5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MONOSOMY_7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Missing chromosome </a:t>
                      </a:r>
                      <a:r>
                        <a:rPr lang="de-DE" altLang="en-US">
                          <a:latin typeface="Calibri" panose="020F0502020204030204" charset="0"/>
                        </a:rPr>
                        <a:t>7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TRISOMY_8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Extra chromosome 8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TRISOMY_21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Extra chromosome 21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MINUS_Y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Loss of Y chromosome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MINUS_X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Loss of X chromosome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4. Molecular mutations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FLT3_ITD_POSITIVE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FLT3 internal tandem duplication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FLT3_ITD_ALLELIC_RATIO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Mutation burden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FLT3_PM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FLT3 point mutation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NPM_MUTATION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NPM1 mutation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CEBPA_MUTATION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CEBPA mutation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WT1_MUTATION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WT1 mutation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MLL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MLL rearrangement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NUP98_NSD1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Fusion gene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CBFA2T3_GLIS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Fusion gene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202055" y="5381625"/>
            <a:ext cx="45681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/>
              <a:t>mutations influence</a:t>
            </a:r>
            <a:endParaRPr lang="en-US" altLang="en-US" sz="1600"/>
          </a:p>
          <a:p>
            <a:pPr lvl="1"/>
            <a:r>
              <a:rPr lang="en-US" altLang="en-US" sz="1600"/>
              <a:t>prognosis</a:t>
            </a:r>
            <a:endParaRPr lang="en-US" altLang="en-US" sz="1600"/>
          </a:p>
          <a:p>
            <a:pPr lvl="1"/>
            <a:r>
              <a:rPr lang="en-US" altLang="en-US" sz="1600"/>
              <a:t>relapse</a:t>
            </a:r>
            <a:endParaRPr lang="en-US" altLang="en-US" sz="1600"/>
          </a:p>
          <a:p>
            <a:pPr lvl="1"/>
            <a:r>
              <a:rPr lang="en-US" altLang="en-US" sz="1600"/>
              <a:t>treatment decisions</a:t>
            </a:r>
            <a:endParaRPr lang="en-US" altLang="en-US" sz="1600"/>
          </a:p>
          <a:p>
            <a:pPr lvl="1"/>
            <a:r>
              <a:rPr lang="en-US" altLang="en-US" sz="1600"/>
              <a:t>survival</a:t>
            </a:r>
            <a:endParaRPr lang="en-US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5. Relapse information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BONE_MARROW_SITE_OF_RELAPSE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Bone marrow relapse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CNS_SITE_OF_RELAPSE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CNS relapse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OTHER_SITE_OF_RELAPSE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Other relapse location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6. Cancer metadata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ONCOTREE_CODE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Cancer classification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ANALYSIS_COHORT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Discovery / validation cohort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CANCER_TYPE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Leukemia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CANCER_TYPE_DETAILED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Acute Myeloid Leukemia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7. Sequencing information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Variable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Meaning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SOMATIC_STATUS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Matched / unmatched sequencing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TMB_NONSYNONYMOUS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Tumor mutation burden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4298</Words>
  <Application>WPS Presentation</Application>
  <PresentationFormat>Widescreen</PresentationFormat>
  <Paragraphs>429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patient dataset</dc:title>
  <dc:creator/>
  <cp:lastModifiedBy>ayca2</cp:lastModifiedBy>
  <cp:revision>3</cp:revision>
  <dcterms:created xsi:type="dcterms:W3CDTF">2026-07-06T09:01:51Z</dcterms:created>
  <dcterms:modified xsi:type="dcterms:W3CDTF">2026-07-06T09:17:52Z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F2E51AB37FE0456C8CBEFF99D349A6FB_12</vt:lpwstr>
  </property>
</Properties>
</file>