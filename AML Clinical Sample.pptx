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3"/>
    <p:sldId id="265" r:id="rId4"/>
    <p:sldId id="259" r:id="rId5"/>
    <p:sldId id="267" r:id="rId6"/>
    <p:sldId id="258" r:id="rId7"/>
    <p:sldId id="261" r:id="rId8"/>
    <p:sldId id="260" r:id="rId9"/>
    <p:sldId id="262" r:id="rId10"/>
    <p:sldId id="263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  <p:sldId id="277" r:id="rId22"/>
    <p:sldId id="278" r:id="rId23"/>
    <p:sldId id="284" r:id="rId25"/>
    <p:sldId id="279" r:id="rId26"/>
    <p:sldId id="283" r:id="rId27"/>
    <p:sldId id="281" r:id="rId28"/>
    <p:sldId id="282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2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5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8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90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9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.xml"/><Relationship Id="rId3" Type="http://schemas.openxmlformats.org/officeDocument/2006/relationships/image" Target="../media/image20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0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3.xml"/><Relationship Id="rId3" Type="http://schemas.openxmlformats.org/officeDocument/2006/relationships/image" Target="../media/image23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9.xml"/><Relationship Id="rId3" Type="http://schemas.openxmlformats.org/officeDocument/2006/relationships/image" Target="../media/image24.png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2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5.xml"/><Relationship Id="rId3" Type="http://schemas.openxmlformats.org/officeDocument/2006/relationships/image" Target="../media/image27.png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8.xml"/><Relationship Id="rId3" Type="http://schemas.openxmlformats.org/officeDocument/2006/relationships/image" Target="../media/image28.png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1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2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3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4.xml"/><Relationship Id="rId3" Type="http://schemas.openxmlformats.org/officeDocument/2006/relationships/image" Target="../media/image37.png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0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3.xml"/><Relationship Id="rId3" Type="http://schemas.openxmlformats.org/officeDocument/2006/relationships/image" Target="../media/image41.png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3335" y="0"/>
            <a:ext cx="12205335" cy="50787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1215" y="1520190"/>
            <a:ext cx="10309225" cy="2570480"/>
          </a:xfrm>
        </p:spPr>
        <p:txBody>
          <a:bodyPr/>
          <a:p>
            <a:r>
              <a:rPr lang="de-DE" altLang="en-US" sz="4000" b="1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 Clinical Sample Dataset Simplification, Exploratory Data Analysis, Dataset Normalization, Merging the Datasets</a:t>
            </a:r>
            <a:br>
              <a:rPr lang="de-DE" altLang="en-US" sz="4000" b="1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</a:br>
            <a:r>
              <a:rPr lang="de-DE" altLang="en-US" sz="4000" b="1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- AML Dataset</a:t>
            </a:r>
            <a:endParaRPr lang="de-DE" altLang="en-US" sz="4000" b="1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4363720"/>
            <a:ext cx="9799320" cy="1771650"/>
          </a:xfrm>
        </p:spPr>
        <p:txBody>
          <a:bodyPr>
            <a:normAutofit/>
          </a:bodyPr>
          <a:p>
            <a:r>
              <a:rPr lang="de-DE" altLang="en-US" sz="3600" b="1" spc="0">
                <a:solidFill>
                  <a:schemeClr val="tx1"/>
                </a:solidFill>
                <a:uFillTx/>
                <a:latin typeface="Calibri" panose="020F0502020204030204" charset="0"/>
              </a:rPr>
              <a:t>For Survival Analysis</a:t>
            </a:r>
            <a:endParaRPr lang="de-DE" altLang="en-US" sz="3600" b="1" spc="0">
              <a:solidFill>
                <a:schemeClr val="tx1"/>
              </a:solidFill>
              <a:uFillTx/>
              <a:latin typeface="Calibri" panose="020F0502020204030204" charset="0"/>
            </a:endParaRPr>
          </a:p>
          <a:p>
            <a:r>
              <a:rPr lang="de-DE" altLang="en-US" sz="2800" b="1" spc="0">
                <a:solidFill>
                  <a:schemeClr val="tx1"/>
                </a:solidFill>
                <a:uFillTx/>
                <a:latin typeface="Calibri" panose="020F0502020204030204" charset="0"/>
              </a:rPr>
              <a:t>Ayca Öztürk</a:t>
            </a:r>
            <a:endParaRPr lang="de-DE" altLang="en-US" sz="2800" b="1" spc="0">
              <a:solidFill>
                <a:schemeClr val="tx1"/>
              </a:solidFill>
              <a:uFillTx/>
              <a:latin typeface="Calibri" panose="020F0502020204030204" charset="0"/>
            </a:endParaRPr>
          </a:p>
        </p:txBody>
      </p:sp>
      <p:pic>
        <p:nvPicPr>
          <p:cNvPr id="10" name="Picture 9" descr="ukww-removebg-p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655" y="133350"/>
            <a:ext cx="3395345" cy="11137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0"/>
            <a:ext cx="10969200" cy="705600"/>
          </a:xfrm>
        </p:spPr>
        <p:txBody>
          <a:bodyPr/>
          <a:p>
            <a:r>
              <a:rPr lang="de-DE" altLang="en-US" sz="3200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Proposed AML Pipeline (first survival, then digital twins)</a:t>
            </a:r>
            <a:endParaRPr lang="de-DE" altLang="en-US" sz="3200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33400" y="705485"/>
            <a:ext cx="11043920" cy="6151880"/>
          </a:xfrm>
        </p:spPr>
        <p:txBody>
          <a:bodyPr>
            <a:noAutofit/>
          </a:bodyPr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z="14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Missing value analysis </a:t>
            </a:r>
            <a:endParaRPr lang="de-DE" altLang="en-US" sz="14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z="14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Remove unusable features </a:t>
            </a:r>
            <a:endParaRPr lang="de-DE" altLang="en-US" sz="14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z="14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Train/Validation/Test/ split  (70-20-10)</a:t>
            </a:r>
            <a:endParaRPr lang="de-DE" altLang="en-US" sz="14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z="14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MICE/data imputation</a:t>
            </a:r>
            <a:endParaRPr lang="de-DE" altLang="en-US" sz="14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z="14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Clinical sample dataset simplification (one sample per patient)</a:t>
            </a:r>
            <a:endParaRPr lang="de-DE" altLang="en-US" sz="14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altLang="en-US" sz="14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Exploratory</a:t>
            </a:r>
            <a:r>
              <a:rPr lang="de-DE" altLang="en-US" sz="14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de-DE" altLang="en-US" sz="1400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Data analysis (EDA) (relationships, patterns, errors, imbalance, unusual values etc.)</a:t>
            </a:r>
            <a:endParaRPr lang="de-DE" altLang="en-US" sz="14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z="14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Variable normalization for the survival models</a:t>
            </a:r>
            <a:endParaRPr lang="de-DE" altLang="en-US" sz="14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z="14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Merging the datasets (clinical patient+clinical sample) by Patient IDs. The final datasets:  a) clinical-only b) genomic-only c)combined</a:t>
            </a:r>
            <a:endParaRPr lang="de-DE" altLang="en-US" sz="14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z="14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Feature selection (which variables are included in the model?)</a:t>
            </a:r>
            <a:endParaRPr lang="de-DE" altLang="en-US" sz="14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z="14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Survival models (from baseline to more advanced)</a:t>
            </a:r>
            <a:endParaRPr lang="de-DE" altLang="en-US" sz="14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00100" lvl="1" indent="-342900">
              <a:lnSpc>
                <a:spcPct val="110000"/>
              </a:lnSpc>
              <a:buFont typeface="+mj-lt"/>
              <a:buAutoNum type="alphaLcParenR"/>
            </a:pPr>
            <a:r>
              <a:rPr lang="de-DE" altLang="en-US" sz="12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cox ph model</a:t>
            </a:r>
            <a:endParaRPr lang="de-DE" altLang="en-US" sz="12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00100" lvl="1" indent="-342900">
              <a:lnSpc>
                <a:spcPct val="110000"/>
              </a:lnSpc>
              <a:buFont typeface="+mj-lt"/>
              <a:buAutoNum type="alphaLcParenR"/>
            </a:pPr>
            <a:r>
              <a:rPr lang="de-DE" altLang="en-US" sz="12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random survival forest</a:t>
            </a:r>
            <a:endParaRPr lang="de-DE" altLang="en-US" sz="12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00100" lvl="1" indent="-342900">
              <a:lnSpc>
                <a:spcPct val="110000"/>
              </a:lnSpc>
              <a:buFont typeface="+mj-lt"/>
              <a:buAutoNum type="alphaLcParenR"/>
            </a:pPr>
            <a:r>
              <a:rPr lang="de-DE" altLang="en-US" sz="12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deepsurv</a:t>
            </a:r>
            <a:endParaRPr lang="de-DE" altLang="en-US" sz="12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lvl="0" indent="-342900">
              <a:lnSpc>
                <a:spcPct val="110000"/>
              </a:lnSpc>
              <a:buFont typeface="+mj-lt"/>
              <a:buAutoNum type="arabicPeriod"/>
            </a:pPr>
            <a:r>
              <a:rPr lang="de-DE" altLang="en-US" sz="14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Model evaluation &amp; Model comparison &amp; Fine-Tuning</a:t>
            </a:r>
            <a:endParaRPr lang="de-DE" altLang="en-US" sz="14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lvl="0" indent="-342900">
              <a:lnSpc>
                <a:spcPct val="110000"/>
              </a:lnSpc>
              <a:buFont typeface="+mj-lt"/>
              <a:buAutoNum type="arabicPeriod"/>
            </a:pPr>
            <a:r>
              <a:rPr lang="de-DE" altLang="en-US" sz="14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Model expainability</a:t>
            </a:r>
            <a:endParaRPr lang="de-DE" altLang="en-US" sz="14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lvl="0" indent="-342900">
              <a:lnSpc>
                <a:spcPct val="110000"/>
              </a:lnSpc>
              <a:buFont typeface="+mj-lt"/>
              <a:buAutoNum type="arabicPeriod"/>
            </a:pPr>
            <a:r>
              <a:rPr lang="de-DE" altLang="en-US" sz="14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Patient digital twin generation</a:t>
            </a:r>
            <a:endParaRPr lang="de-DE" altLang="en-US" sz="14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lvl="0" indent="-342900">
              <a:lnSpc>
                <a:spcPct val="110000"/>
              </a:lnSpc>
              <a:buFont typeface="+mj-lt"/>
              <a:buAutoNum type="arabicPeriod"/>
            </a:pPr>
            <a:r>
              <a:rPr lang="de-DE" altLang="en-US" sz="14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Treatment simulation/Personalized survival prediction</a:t>
            </a:r>
            <a:endParaRPr lang="de-DE" altLang="en-US" sz="14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00100" lvl="1" indent="-342900">
              <a:lnSpc>
                <a:spcPct val="110000"/>
              </a:lnSpc>
              <a:buFont typeface="+mj-lt"/>
              <a:buAutoNum type="alphaLcParenR"/>
            </a:pPr>
            <a:endParaRPr lang="de-DE" altLang="en-US" sz="12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endParaRPr lang="de-DE" altLang="en-US" sz="12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de-DE" altLang="en-US">
                <a:latin typeface="Calibri" panose="020F0502020204030204" charset="0"/>
                <a:sym typeface="+mn-ea"/>
              </a:rPr>
              <a:t>Highest missing features: Clinical Patient (&gt;=25%)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736215" y="1674495"/>
            <a:ext cx="6897370" cy="34620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12190" y="5497830"/>
            <a:ext cx="687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>
                <a:latin typeface="Calibri" panose="020F0502020204030204" charset="0"/>
              </a:rPr>
              <a:t>These columns were excluded before the data imputation step</a:t>
            </a:r>
            <a:endParaRPr lang="de-DE" altLang="en-US">
              <a:latin typeface="Calibri" panose="020F050202020403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Other Columns that have been excluded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CR_STATUS_AT_END_OF_COURSE_1</a:t>
            </a:r>
            <a:r>
              <a:rPr lang="de-DE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de-DE" altLang="en-US" sz="1600" spc="0">
                <a:solidFill>
                  <a:schemeClr val="tx1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→post treatment response</a:t>
            </a:r>
            <a:endParaRPr lang="en-US" altLang="en-US" sz="16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CR_STATUS_AT_END_OF_COURSE_2</a:t>
            </a:r>
            <a:r>
              <a:rPr lang="de-DE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  </a:t>
            </a:r>
            <a:r>
              <a:rPr lang="de-DE" altLang="en-US" sz="160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→post treatment response</a:t>
            </a:r>
            <a:endParaRPr lang="en-US" altLang="en-US" sz="16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MRD_AT_END_OF_COURSE_1</a:t>
            </a:r>
            <a:r>
              <a:rPr lang="de-DE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  </a:t>
            </a:r>
            <a:r>
              <a:rPr lang="de-DE" altLang="en-US" sz="160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→post treatment response</a:t>
            </a:r>
            <a:endParaRPr lang="en-US" altLang="en-US" sz="16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MRD_PERCENTAGE_AT_END_OF_COURSE_1</a:t>
            </a:r>
            <a:r>
              <a:rPr lang="de-DE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  </a:t>
            </a:r>
            <a:r>
              <a:rPr lang="de-DE" altLang="en-US" sz="160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→post treatment response</a:t>
            </a:r>
            <a:endParaRPr lang="en-US" altLang="en-US" sz="16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SCT_IN_FIRST_CR</a:t>
            </a:r>
            <a:r>
              <a:rPr lang="de-DE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 </a:t>
            </a:r>
            <a:r>
              <a:rPr lang="de-DE" altLang="en-US" sz="160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→treatment variable</a:t>
            </a:r>
            <a:endParaRPr lang="de-DE" altLang="en-US" sz="1600" spc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en-US" sz="1600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ISCN</a:t>
            </a:r>
            <a:r>
              <a:rPr lang="de-DE" altLang="en-US" sz="1600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 </a:t>
            </a:r>
            <a:r>
              <a:rPr lang="de-DE" altLang="en-US" sz="160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 </a:t>
            </a:r>
            <a:r>
              <a:rPr lang="en-US" altLang="en-US" sz="160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contains hundreds of near-unique cytogenetic strings</a:t>
            </a:r>
            <a:r>
              <a:rPr lang="de-DE" altLang="en-US" sz="1600" spc="0"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  <a:sym typeface="+mn-ea"/>
              </a:rPr>
              <a:t>, hard to interpret for ML models</a:t>
            </a:r>
            <a:endParaRPr lang="en-US" altLang="en-US" sz="1600" spc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lang="de-DE" altLang="en-US" sz="16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de-DE" altLang="en-US">
                <a:latin typeface="Calibri" panose="020F0502020204030204" charset="0"/>
                <a:sym typeface="+mn-ea"/>
              </a:rPr>
              <a:t>Highest missing features: Clinical Sample (&gt;=25%)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48995" y="1424305"/>
            <a:ext cx="10487660" cy="30518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36320" y="5171440"/>
            <a:ext cx="982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>
                <a:latin typeface="Calibri" panose="020F0502020204030204" charset="0"/>
              </a:rPr>
              <a:t>These columns were excluded except FLT3_ITD_ALLELIC_RATIO before data imputation step</a:t>
            </a:r>
            <a:endParaRPr lang="de-DE" altLang="en-US">
              <a:latin typeface="Calibri" panose="020F050202020403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10965" y="150565"/>
            <a:ext cx="10969200" cy="705600"/>
          </a:xfrm>
        </p:spPr>
        <p:txBody>
          <a:bodyPr>
            <a:noAutofit/>
          </a:bodyPr>
          <a:p>
            <a:r>
              <a:rPr lang="de-DE" altLang="en-US" sz="2400">
                <a:latin typeface="Calibri" panose="020F0502020204030204" charset="0"/>
              </a:rPr>
              <a:t>Clinical Sample Simplification: How to choose which sample to use?</a:t>
            </a:r>
            <a:endParaRPr lang="de-DE" altLang="en-US" sz="2400">
              <a:latin typeface="Calibri" panose="020F050202020403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63720" y="855980"/>
            <a:ext cx="34645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de-DE" altLang="en-US" sz="2000">
                <a:solidFill>
                  <a:schemeClr val="tx1"/>
                </a:solidFill>
                <a:latin typeface="Calibri" panose="020F0502020204030204" charset="0"/>
              </a:rPr>
              <a:t>All samples of one patient</a:t>
            </a:r>
            <a:endParaRPr lang="de-DE" altLang="en-US" sz="2000">
              <a:solidFill>
                <a:schemeClr val="tx1"/>
              </a:solidFill>
              <a:latin typeface="Calibri" panose="020F05020202040302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6960" y="3505835"/>
            <a:ext cx="2936875" cy="7035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de-DE" altLang="en-US" sz="2000">
                <a:solidFill>
                  <a:schemeClr val="tx1"/>
                </a:solidFill>
                <a:latin typeface="Calibri" panose="020F0502020204030204" charset="0"/>
              </a:rPr>
              <a:t>Bone marrow sample (09) available?</a:t>
            </a:r>
            <a:endParaRPr lang="de-DE" altLang="en-US" sz="2000">
              <a:solidFill>
                <a:schemeClr val="tx1"/>
              </a:solidFill>
              <a:latin typeface="Calibri" panose="020F05020202040302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28280" y="2595245"/>
            <a:ext cx="3464560" cy="7435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de-DE" altLang="en-US" sz="2000">
                <a:solidFill>
                  <a:schemeClr val="tx1"/>
                </a:solidFill>
                <a:latin typeface="Calibri" panose="020F0502020204030204" charset="0"/>
              </a:rPr>
              <a:t>Review metadata or exclude patient</a:t>
            </a:r>
            <a:endParaRPr lang="de-DE" altLang="en-US" sz="2000">
              <a:solidFill>
                <a:schemeClr val="tx1"/>
              </a:solidFill>
              <a:latin typeface="Calibri" panose="020F05020202040302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63720" y="1660525"/>
            <a:ext cx="34645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de-DE" altLang="en-US" sz="2000">
                <a:solidFill>
                  <a:schemeClr val="tx1"/>
                </a:solidFill>
                <a:latin typeface="Calibri" panose="020F0502020204030204" charset="0"/>
              </a:rPr>
              <a:t>Diagnostic sample available? </a:t>
            </a:r>
            <a:endParaRPr lang="de-DE" altLang="en-US" sz="2000">
              <a:solidFill>
                <a:schemeClr val="tx1"/>
              </a:solidFill>
              <a:latin typeface="Calibri" panose="020F05020202040302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03450" y="2595245"/>
            <a:ext cx="34645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de-DE" altLang="en-US" sz="2000">
                <a:solidFill>
                  <a:schemeClr val="tx1"/>
                </a:solidFill>
                <a:latin typeface="Calibri" panose="020F0502020204030204" charset="0"/>
              </a:rPr>
              <a:t>Keep diagnostic samples</a:t>
            </a:r>
            <a:endParaRPr lang="de-DE" altLang="en-US" sz="2000">
              <a:solidFill>
                <a:schemeClr val="tx1"/>
              </a:solidFill>
              <a:latin typeface="Calibri" panose="020F05020202040302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62065" y="4111625"/>
            <a:ext cx="34645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de-DE" altLang="en-US" sz="2000">
                <a:solidFill>
                  <a:schemeClr val="tx1"/>
                </a:solidFill>
                <a:latin typeface="Calibri" panose="020F0502020204030204" charset="0"/>
              </a:rPr>
              <a:t>Blood sample (03) available?</a:t>
            </a:r>
            <a:endParaRPr lang="de-DE" altLang="en-US" sz="2000">
              <a:solidFill>
                <a:schemeClr val="tx1"/>
              </a:solidFill>
              <a:latin typeface="Calibri" panose="020F05020202040302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48150" y="6187440"/>
            <a:ext cx="34645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de-DE" altLang="en-US" sz="2000">
                <a:solidFill>
                  <a:schemeClr val="tx1"/>
                </a:solidFill>
                <a:latin typeface="Calibri" panose="020F0502020204030204" charset="0"/>
              </a:rPr>
              <a:t>one sample per patient</a:t>
            </a:r>
            <a:endParaRPr lang="de-DE" altLang="en-US" sz="2000">
              <a:solidFill>
                <a:schemeClr val="tx1"/>
              </a:solidFill>
              <a:latin typeface="Calibri" panose="020F05020202040302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364220" y="5087620"/>
            <a:ext cx="3464560" cy="736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de-DE" altLang="en-US" sz="2000">
                <a:solidFill>
                  <a:schemeClr val="tx1"/>
                </a:solidFill>
                <a:latin typeface="Calibri" panose="020F0502020204030204" charset="0"/>
              </a:rPr>
              <a:t>use 04, otherwise another sample</a:t>
            </a:r>
            <a:endParaRPr lang="de-DE" altLang="en-US" sz="2000">
              <a:solidFill>
                <a:schemeClr val="tx1"/>
              </a:solidFill>
              <a:latin typeface="Calibri" panose="020F05020202040302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88535" y="5118100"/>
            <a:ext cx="260223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de-DE" altLang="en-US" sz="2000">
                <a:solidFill>
                  <a:schemeClr val="tx1"/>
                </a:solidFill>
                <a:latin typeface="Calibri" panose="020F0502020204030204" charset="0"/>
              </a:rPr>
              <a:t>use 03</a:t>
            </a:r>
            <a:endParaRPr lang="de-DE" altLang="en-US" sz="2000">
              <a:solidFill>
                <a:schemeClr val="tx1"/>
              </a:solidFill>
              <a:latin typeface="Calibri" panose="020F05020202040302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57175" y="5250180"/>
            <a:ext cx="226822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de-DE" altLang="en-US" sz="2000">
                <a:solidFill>
                  <a:schemeClr val="tx1"/>
                </a:solidFill>
                <a:latin typeface="Calibri" panose="020F0502020204030204" charset="0"/>
              </a:rPr>
              <a:t>use the 09 sample</a:t>
            </a:r>
            <a:endParaRPr lang="de-DE" altLang="en-US" sz="2000">
              <a:solidFill>
                <a:schemeClr val="tx1"/>
              </a:solidFill>
              <a:latin typeface="Calibri" panose="020F0502020204030204" charset="0"/>
            </a:endParaRPr>
          </a:p>
        </p:txBody>
      </p:sp>
      <p:cxnSp>
        <p:nvCxnSpPr>
          <p:cNvPr id="22" name="Straight Arrow Connector 21"/>
          <p:cNvCxnSpPr>
            <a:stCxn id="4" idx="2"/>
            <a:endCxn id="11" idx="0"/>
          </p:cNvCxnSpPr>
          <p:nvPr/>
        </p:nvCxnSpPr>
        <p:spPr>
          <a:xfrm>
            <a:off x="6096000" y="1397000"/>
            <a:ext cx="0" cy="26352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2" idx="0"/>
          </p:cNvCxnSpPr>
          <p:nvPr/>
        </p:nvCxnSpPr>
        <p:spPr>
          <a:xfrm flipH="1">
            <a:off x="3935730" y="2200910"/>
            <a:ext cx="2225040" cy="39433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1" idx="2"/>
            <a:endCxn id="10" idx="0"/>
          </p:cNvCxnSpPr>
          <p:nvPr/>
        </p:nvCxnSpPr>
        <p:spPr>
          <a:xfrm>
            <a:off x="6096000" y="2201545"/>
            <a:ext cx="3464560" cy="39370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9" idx="0"/>
          </p:cNvCxnSpPr>
          <p:nvPr/>
        </p:nvCxnSpPr>
        <p:spPr>
          <a:xfrm flipH="1">
            <a:off x="3815715" y="3093720"/>
            <a:ext cx="55880" cy="41211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9" idx="2"/>
            <a:endCxn id="21" idx="0"/>
          </p:cNvCxnSpPr>
          <p:nvPr/>
        </p:nvCxnSpPr>
        <p:spPr>
          <a:xfrm flipH="1">
            <a:off x="1391285" y="4209415"/>
            <a:ext cx="2424430" cy="104076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3" idx="2"/>
            <a:endCxn id="20" idx="0"/>
          </p:cNvCxnSpPr>
          <p:nvPr/>
        </p:nvCxnSpPr>
        <p:spPr>
          <a:xfrm flipH="1">
            <a:off x="6089650" y="4652645"/>
            <a:ext cx="2004695" cy="46545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19" idx="0"/>
          </p:cNvCxnSpPr>
          <p:nvPr/>
        </p:nvCxnSpPr>
        <p:spPr>
          <a:xfrm>
            <a:off x="8021320" y="4665980"/>
            <a:ext cx="2075180" cy="42164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1" idx="2"/>
            <a:endCxn id="14" idx="0"/>
          </p:cNvCxnSpPr>
          <p:nvPr/>
        </p:nvCxnSpPr>
        <p:spPr>
          <a:xfrm>
            <a:off x="1391285" y="5791200"/>
            <a:ext cx="4589145" cy="39624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0" idx="2"/>
          </p:cNvCxnSpPr>
          <p:nvPr/>
        </p:nvCxnSpPr>
        <p:spPr>
          <a:xfrm flipH="1">
            <a:off x="6022340" y="5659120"/>
            <a:ext cx="67310" cy="51879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9" idx="2"/>
            <a:endCxn id="14" idx="0"/>
          </p:cNvCxnSpPr>
          <p:nvPr/>
        </p:nvCxnSpPr>
        <p:spPr>
          <a:xfrm flipH="1">
            <a:off x="5980430" y="5824220"/>
            <a:ext cx="4116070" cy="36322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Text Box 32"/>
          <p:cNvSpPr txBox="1"/>
          <p:nvPr/>
        </p:nvSpPr>
        <p:spPr>
          <a:xfrm>
            <a:off x="3997325" y="2244725"/>
            <a:ext cx="1043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de-DE" altLang="en-US" sz="1400">
                <a:latin typeface="Calibri" panose="020F0502020204030204" charset="0"/>
              </a:rPr>
              <a:t>yes</a:t>
            </a:r>
            <a:endParaRPr lang="de-DE" altLang="en-US" sz="1400">
              <a:latin typeface="Calibri" panose="020F0502020204030204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-700405" y="4842510"/>
            <a:ext cx="424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de-DE" altLang="en-US" sz="1400">
                <a:latin typeface="Calibri" panose="020F0502020204030204" charset="0"/>
                <a:sym typeface="+mn-ea"/>
              </a:rPr>
              <a:t>yes</a:t>
            </a:r>
            <a:endParaRPr lang="de-DE" altLang="en-US" sz="1400">
              <a:latin typeface="Calibri" panose="020F0502020204030204" charset="0"/>
              <a:sym typeface="+mn-ea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3302635" y="46589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de-DE" altLang="en-US" sz="1400">
                <a:latin typeface="Calibri" panose="020F0502020204030204" charset="0"/>
                <a:sym typeface="+mn-ea"/>
              </a:rPr>
              <a:t>yes</a:t>
            </a:r>
            <a:endParaRPr lang="de-DE" altLang="en-US" sz="1400">
              <a:latin typeface="Calibri" panose="020F0502020204030204" charset="0"/>
              <a:sym typeface="+mn-ea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8463915" y="2237740"/>
            <a:ext cx="5518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 sz="1400">
                <a:latin typeface="Calibri" panose="020F0502020204030204" charset="0"/>
              </a:rPr>
              <a:t>no</a:t>
            </a:r>
            <a:endParaRPr lang="de-DE" altLang="en-US" sz="1400">
              <a:latin typeface="Calibri" panose="020F0502020204030204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9398635" y="4665980"/>
            <a:ext cx="162242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de-DE" altLang="en-US" sz="1400">
                <a:latin typeface="Calibri" panose="020F0502020204030204" charset="0"/>
                <a:sym typeface="+mn-ea"/>
              </a:rPr>
              <a:t>no</a:t>
            </a:r>
            <a:endParaRPr lang="de-DE" altLang="en-US" sz="1400">
              <a:latin typeface="Calibri" panose="020F0502020204030204" charset="0"/>
              <a:sym typeface="+mn-ea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5594350" y="387413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de-DE" altLang="en-US" sz="1400">
                <a:latin typeface="Calibri" panose="020F0502020204030204" charset="0"/>
                <a:sym typeface="+mn-ea"/>
              </a:rPr>
              <a:t>no</a:t>
            </a:r>
            <a:endParaRPr lang="de-DE" altLang="en-US" sz="1400">
              <a:latin typeface="Calibri" panose="020F0502020204030204" charset="0"/>
              <a:sym typeface="+mn-ea"/>
            </a:endParaRPr>
          </a:p>
        </p:txBody>
      </p:sp>
      <p:cxnSp>
        <p:nvCxnSpPr>
          <p:cNvPr id="41" name="Straight Arrow Connector 40"/>
          <p:cNvCxnSpPr>
            <a:endCxn id="13" idx="0"/>
          </p:cNvCxnSpPr>
          <p:nvPr/>
        </p:nvCxnSpPr>
        <p:spPr>
          <a:xfrm flipV="1">
            <a:off x="3801110" y="4111625"/>
            <a:ext cx="4293235" cy="10795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Train set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865630"/>
            <a:ext cx="3538855" cy="9518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670" y="1417320"/>
            <a:ext cx="5542915" cy="40233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44550" y="3347720"/>
            <a:ext cx="38938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Most selected samples are bone marrow diagnostic samples (-09), indicating that the sample selection strategy successfully prioritized the biologically preferred specimen type.</a:t>
            </a:r>
            <a:endParaRPr lang="en-US" altLang="en-US"/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Validation Set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33365" y="1349375"/>
            <a:ext cx="6243955" cy="4159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60" y="2065020"/>
            <a:ext cx="3782695" cy="10693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Test Set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922780"/>
            <a:ext cx="3925570" cy="10229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825" y="1447800"/>
            <a:ext cx="6085840" cy="42583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54095"/>
            <a:ext cx="10969200" cy="705600"/>
          </a:xfrm>
        </p:spPr>
        <p:txBody>
          <a:bodyPr/>
          <a:p>
            <a:r>
              <a:rPr lang="en-US" altLang="en-US" sz="2800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Exploratory</a:t>
            </a:r>
            <a:r>
              <a:rPr lang="de-DE" altLang="en-US" sz="2800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de-DE" altLang="en-US" sz="2800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Data analysis (EDA) on Clinical Patient (train set, imputed)</a:t>
            </a:r>
            <a:endParaRPr lang="de-DE" altLang="en-US" sz="2800" spc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2"/>
            </p:custDataLst>
          </p:nvPr>
        </p:nvGraphicFramePr>
        <p:xfrm>
          <a:off x="608400" y="1246560"/>
          <a:ext cx="1096899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43535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Property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Value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Number of patients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620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Number of columns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22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Remaining missing values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23 (risk group)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19798"/>
          <a:stretch>
            <a:fillRect/>
          </a:stretch>
        </p:blipFill>
        <p:spPr>
          <a:xfrm>
            <a:off x="392430" y="3150870"/>
            <a:ext cx="1522095" cy="12801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t="25826"/>
          <a:stretch>
            <a:fillRect/>
          </a:stretch>
        </p:blipFill>
        <p:spPr>
          <a:xfrm>
            <a:off x="2162175" y="3249930"/>
            <a:ext cx="1346835" cy="10661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2385" y="3249930"/>
            <a:ext cx="3158490" cy="19716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4375" y="3249295"/>
            <a:ext cx="2708910" cy="11817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1260" y="4777740"/>
            <a:ext cx="2167255" cy="173291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6345" y="3249930"/>
            <a:ext cx="1639570" cy="94234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Figures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440" y="1210310"/>
            <a:ext cx="3908425" cy="25488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205" y="1313815"/>
            <a:ext cx="3570605" cy="22821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0825" y="1210310"/>
            <a:ext cx="3706495" cy="25228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" y="4174490"/>
            <a:ext cx="3428365" cy="225742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129155" y="283845"/>
            <a:ext cx="7197725" cy="60725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Kaplan-Meier Curves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46800" y="1610360"/>
            <a:ext cx="4899660" cy="451866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775335" y="1604645"/>
            <a:ext cx="4937760" cy="43434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116455" y="731520"/>
            <a:ext cx="7591425" cy="55175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en-US" sz="2400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Exploratory</a:t>
            </a:r>
            <a:r>
              <a:rPr lang="de-DE" altLang="en-US" sz="2400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de-DE" altLang="en-US" sz="2400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Data analysis (EDA) on Clinical Patient (train set, imputed, simplified -one sample per patient-)</a:t>
            </a:r>
            <a:endParaRPr lang="de-DE" altLang="en-US" sz="2400" spc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Property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Value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Patients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620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Samples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620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Variables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32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Missing values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608330" y="3937000"/>
          <a:ext cx="333375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/>
                <a:gridCol w="166687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Sample Suffix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Count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-09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505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-03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114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-04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1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242060" y="608330"/>
            <a:ext cx="9514840" cy="55581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700786" y="1190244"/>
            <a:ext cx="4270248" cy="3639312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5601970" y="1089660"/>
            <a:ext cx="4892040" cy="38404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143760" y="608330"/>
            <a:ext cx="7240270" cy="58127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692400" y="457835"/>
            <a:ext cx="6800850" cy="61988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76705" y="871220"/>
            <a:ext cx="4115435" cy="51155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040" y="1651000"/>
            <a:ext cx="4049395" cy="31057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0"/>
            <a:ext cx="10969200" cy="705600"/>
          </a:xfrm>
        </p:spPr>
        <p:txBody>
          <a:bodyPr/>
          <a:p>
            <a:r>
              <a:rPr lang="de-DE" altLang="en-US" sz="3200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Dataset Normalization: Clinical Patient</a:t>
            </a:r>
            <a:endParaRPr lang="de-DE" altLang="en-US" sz="3200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259080" y="605790"/>
                <a:ext cx="11809095" cy="6156325"/>
              </a:xfrm>
            </p:spPr>
            <p:txBody>
              <a:bodyPr>
                <a:noAutofit/>
              </a:bodyPr>
              <a:p>
                <a:pPr marL="342900" indent="-342900">
                  <a:lnSpc>
                    <a:spcPct val="90000"/>
                  </a:lnSpc>
                  <a:buAutoNum type="arabicPeriod"/>
                </a:pPr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</a:rPr>
                  <a:t>dataset validation (no duplicates), clean text formatting (removing unnecessary spaces)</a:t>
                </a:r>
                <a:endParaRPr lang="de-DE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</a:endParaRPr>
              </a:p>
              <a:p>
                <a:pPr marL="342900" indent="-342900">
                  <a:lnSpc>
                    <a:spcPct val="90000"/>
                  </a:lnSpc>
                  <a:buAutoNum type="arabicPeriod"/>
                </a:pPr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</a:rPr>
                  <a:t>resolving the risk_group inconsistency (values: low, standard, high, missing):</a:t>
                </a:r>
                <a:endParaRPr lang="de-DE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</a:rPr>
                  <a:t>10       → Low</a:t>
                </a:r>
                <a:endParaRPr lang="en-US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</a:rPr>
                  <a:t>30       → High</a:t>
                </a:r>
                <a:endParaRPr lang="en-US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</a:endParaRPr>
              </a:p>
              <a:p>
                <a:pPr marL="342900" lvl="0" indent="-342900">
                  <a:lnSpc>
                    <a:spcPct val="90000"/>
                  </a:lnSpc>
                  <a:buAutoNum type="arabicPeriod"/>
                </a:pPr>
                <a:r>
                  <a:rPr lang="de-DE" altLang="en-US" sz="1600" spc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resolving</a:t>
                </a:r>
                <a:r>
                  <a:rPr lang="en-US" altLang="en-US" sz="1600" spc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 CYTOGENETIC_COMPLEXITY inconsistencies</a:t>
                </a:r>
                <a:r>
                  <a:rPr lang="de-DE" altLang="en-US" sz="1600" spc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, because t</a:t>
                </a:r>
                <a:r>
                  <a:rPr lang="en-US" altLang="en-US" sz="1600" spc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he original column mixes numerical and textual values</a:t>
                </a:r>
                <a:r>
                  <a:rPr lang="de-DE" altLang="en-US" sz="1600" spc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 such as 4 or more, more than 6</a:t>
                </a:r>
                <a:endParaRPr lang="de-DE" altLang="en-US" sz="1600" spc="0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de-DE" altLang="en-US" sz="1600" spc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new categories: 0,1,2,3,4_plus</a:t>
                </a:r>
                <a:endParaRPr lang="de-DE" altLang="en-US" sz="1600" spc="0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marL="342900" lvl="0" indent="-342900">
                  <a:lnSpc>
                    <a:spcPct val="90000"/>
                  </a:lnSpc>
                  <a:buAutoNum type="arabicPeriod"/>
                </a:pPr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numerical skewness (</a:t>
                </a:r>
                <a:r>
                  <a:rPr lang="en-US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describes the asymmetry of a variable's distribution</a:t>
                </a:r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) examination</a:t>
                </a:r>
                <a:endParaRPr lang="de-DE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|skewness| &lt; 0.5    approximately symmetric</a:t>
                </a:r>
                <a:endParaRPr lang="en-US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0.5–1.0             moderately skewed</a:t>
                </a:r>
                <a:endParaRPr lang="en-US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|skewness| &gt; 1.0    strongly skewed</a:t>
                </a:r>
                <a:endParaRPr lang="en-US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marL="342900" lvl="0" indent="-342900">
                  <a:lnSpc>
                    <a:spcPct val="90000"/>
                  </a:lnSpc>
                  <a:buAutoNum type="arabicPeriod"/>
                </a:pPr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Log-transform WBC to compress very large values and reduce skewness</a:t>
                </a:r>
                <a:endParaRPr lang="de-DE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marL="342900" lvl="0" indent="-342900">
                  <a:lnSpc>
                    <a:spcPct val="90000"/>
                  </a:lnSpc>
                  <a:buAutoNum type="arabicPeriod"/>
                </a:pPr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removing redundant variables: remove Age_in_days, keep Age, age is then normalized</a:t>
                </a:r>
                <a:endParaRPr lang="de-DE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marL="342900" lvl="0" indent="-342900">
                  <a:lnSpc>
                    <a:spcPct val="90000"/>
                  </a:lnSpc>
                  <a:buAutoNum type="arabicPeriod"/>
                </a:pPr>
                <a:r>
                  <a:rPr lang="en-US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Optional</a:t>
                </a:r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:</a:t>
                </a:r>
                <a:r>
                  <a:rPr lang="en-US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 include or exclude risk group and protocol</a:t>
                </a:r>
                <a:endParaRPr lang="en-US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when risk group excluded, </a:t>
                </a:r>
                <a:r>
                  <a:rPr lang="en-US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the model must predict survival using the other raw patient characteristics</a:t>
                </a:r>
                <a:endParaRPr lang="en-US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PROTOCOL can also be included or excluded because it may contain treatment information</a:t>
                </a:r>
                <a:endParaRPr lang="en-US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marL="342900" lvl="0" indent="-342900">
                  <a:lnSpc>
                    <a:spcPct val="90000"/>
                  </a:lnSpc>
                  <a:buAutoNum type="arabicPeriod"/>
                </a:pPr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standardizing numerical variables</a:t>
                </a:r>
                <a:endParaRPr lang="de-DE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x: original value, </a:t>
                </a:r>
                <a14:m>
                  <m:oMath xmlns:m="http://schemas.openxmlformats.org/officeDocument/2006/math">
                    <m:r>
                      <a:rPr lang="en-US" altLang="de-DE" sz="1600" i="1" spc="0">
                        <a:solidFill>
                          <a:schemeClr val="tx1"/>
                        </a:solidFill>
                        <a:uFillTx/>
                        <a:latin typeface="Cambria Math" panose="02040503050406030204" charset="0"/>
                        <a:cs typeface="Cambria Math" panose="02040503050406030204" charset="0"/>
                      </a:rPr>
                      <m:t>𝜇</m:t>
                    </m:r>
                  </m:oMath>
                </a14:m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mbria Math" panose="02040503050406030204" charset="0"/>
                  </a:rPr>
                  <a:t>: set mean,  </a:t>
                </a:r>
                <a14:m>
                  <m:oMath xmlns:m="http://schemas.openxmlformats.org/officeDocument/2006/math">
                    <m:r>
                      <a:rPr lang="en-US" altLang="de-DE" sz="1600" i="1" spc="0">
                        <a:solidFill>
                          <a:schemeClr val="tx1"/>
                        </a:solidFill>
                        <a:uFillTx/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de-DE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mbria Math" panose="02040503050406030204" charset="0"/>
                  </a:rPr>
                  <a:t>: standard deviation</a:t>
                </a:r>
                <a:endParaRPr lang="en-US" altLang="de-DE" sz="1600" i="1" spc="0">
                  <a:solidFill>
                    <a:schemeClr val="tx1"/>
                  </a:solidFill>
                  <a:uFillTx/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lvl="0" indent="-342900">
                  <a:lnSpc>
                    <a:spcPct val="90000"/>
                  </a:lnSpc>
                  <a:buAutoNum type="arabicPeriod"/>
                </a:pPr>
                <a:r>
                  <a:rPr lang="en-US" altLang="en-US" sz="1600" spc="0">
                    <a:solidFill>
                      <a:schemeClr val="tx1"/>
                    </a:solidFill>
                    <a:uFillTx/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One-hot encode categorical variables</a:t>
                </a:r>
                <a:endParaRPr lang="en-US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marL="342900" lvl="0" indent="-342900">
                  <a:lnSpc>
                    <a:spcPct val="90000"/>
                  </a:lnSpc>
                  <a:buAutoNum type="arabicPeriod"/>
                </a:pPr>
                <a:endParaRPr lang="en-US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</a:endParaRPr>
              </a:p>
              <a:p>
                <a:pPr marL="342900" indent="-342900">
                  <a:lnSpc>
                    <a:spcPct val="90000"/>
                  </a:lnSpc>
                  <a:buAutoNum type="arabicPeriod"/>
                </a:pPr>
                <a:endParaRPr lang="en-US" altLang="en-US" sz="1600" spc="0">
                  <a:solidFill>
                    <a:schemeClr val="tx1"/>
                  </a:solidFill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xfrm>
                <a:off x="259080" y="605790"/>
                <a:ext cx="11809095" cy="6156325"/>
              </a:xfrm>
              <a:blipFill rotWithShape="1">
                <a:blip r:embed="rId4"/>
                <a:stretch>
                  <a:fillRect b="-72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3"/>
          <p:cNvSpPr txBox="1"/>
          <p:nvPr/>
        </p:nvSpPr>
        <p:spPr>
          <a:xfrm>
            <a:off x="9478010" y="2244725"/>
            <a:ext cx="2289175" cy="26390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pPr lvl="1" indent="0" algn="just">
              <a:buNone/>
            </a:pPr>
            <a:r>
              <a:rPr lang="de-DE" altLang="en-US" sz="1400" b="1">
                <a:uFillTx/>
                <a:latin typeface="Calibri" panose="020F0502020204030204" charset="0"/>
                <a:sym typeface="+mn-ea"/>
              </a:rPr>
              <a:t>Cytogenetic Complexity</a:t>
            </a:r>
            <a:endParaRPr lang="en-US" altLang="en-US" sz="1400" b="1">
              <a:uFillTx/>
              <a:latin typeface="Calibri" panose="020F0502020204030204" charset="0"/>
              <a:sym typeface="+mn-ea"/>
            </a:endParaRPr>
          </a:p>
          <a:p>
            <a:pPr lvl="1" indent="0" algn="just">
              <a:buNone/>
            </a:pPr>
            <a:r>
              <a:rPr lang="en-US" altLang="en-US" sz="1400">
                <a:uFillTx/>
                <a:latin typeface="Calibri" panose="020F0502020204030204" charset="0"/>
                <a:sym typeface="+mn-ea"/>
              </a:rPr>
              <a:t>0 → 0</a:t>
            </a:r>
            <a:endParaRPr lang="en-US" altLang="en-US" sz="1400">
              <a:uFillTx/>
              <a:latin typeface="Calibri" panose="020F0502020204030204" charset="0"/>
              <a:sym typeface="+mn-ea"/>
            </a:endParaRPr>
          </a:p>
          <a:p>
            <a:pPr lvl="1" indent="0" algn="just">
              <a:buNone/>
            </a:pPr>
            <a:r>
              <a:rPr lang="en-US" altLang="en-US" sz="1400">
                <a:uFillTx/>
                <a:latin typeface="Calibri" panose="020F0502020204030204" charset="0"/>
                <a:sym typeface="+mn-ea"/>
              </a:rPr>
              <a:t>1 → 1</a:t>
            </a:r>
            <a:endParaRPr lang="en-US" altLang="en-US" sz="1400">
              <a:uFillTx/>
              <a:latin typeface="Calibri" panose="020F0502020204030204" charset="0"/>
              <a:sym typeface="+mn-ea"/>
            </a:endParaRPr>
          </a:p>
          <a:p>
            <a:pPr lvl="1" indent="0" algn="just">
              <a:buNone/>
            </a:pPr>
            <a:r>
              <a:rPr lang="en-US" altLang="en-US" sz="1400">
                <a:uFillTx/>
                <a:latin typeface="Calibri" panose="020F0502020204030204" charset="0"/>
                <a:sym typeface="+mn-ea"/>
              </a:rPr>
              <a:t>2 → 2</a:t>
            </a:r>
            <a:endParaRPr lang="en-US" altLang="en-US" sz="1400">
              <a:uFillTx/>
              <a:latin typeface="Calibri" panose="020F0502020204030204" charset="0"/>
              <a:sym typeface="+mn-ea"/>
            </a:endParaRPr>
          </a:p>
          <a:p>
            <a:pPr lvl="1" indent="0" algn="just">
              <a:buNone/>
            </a:pPr>
            <a:r>
              <a:rPr lang="en-US" altLang="en-US" sz="1400">
                <a:uFillTx/>
                <a:latin typeface="Calibri" panose="020F0502020204030204" charset="0"/>
                <a:sym typeface="+mn-ea"/>
              </a:rPr>
              <a:t>3 → 3</a:t>
            </a:r>
            <a:endParaRPr lang="en-US" altLang="en-US" sz="1400">
              <a:uFillTx/>
              <a:latin typeface="Calibri" panose="020F0502020204030204" charset="0"/>
              <a:sym typeface="+mn-ea"/>
            </a:endParaRPr>
          </a:p>
          <a:p>
            <a:pPr lvl="1" indent="0" algn="just">
              <a:buNone/>
            </a:pPr>
            <a:r>
              <a:rPr lang="en-US" altLang="en-US" sz="1400">
                <a:uFillTx/>
                <a:latin typeface="Calibri" panose="020F0502020204030204" charset="0"/>
                <a:sym typeface="+mn-ea"/>
              </a:rPr>
              <a:t>4 → 4_plus</a:t>
            </a:r>
            <a:endParaRPr lang="en-US" altLang="en-US" sz="1400">
              <a:uFillTx/>
              <a:latin typeface="Calibri" panose="020F0502020204030204" charset="0"/>
              <a:sym typeface="+mn-ea"/>
            </a:endParaRPr>
          </a:p>
          <a:p>
            <a:pPr lvl="1" indent="0" algn="just">
              <a:buNone/>
            </a:pPr>
            <a:r>
              <a:rPr lang="en-US" altLang="en-US" sz="1400">
                <a:uFillTx/>
                <a:latin typeface="Calibri" panose="020F0502020204030204" charset="0"/>
                <a:sym typeface="+mn-ea"/>
              </a:rPr>
              <a:t>5 → 4_plus</a:t>
            </a:r>
            <a:endParaRPr lang="en-US" altLang="en-US" sz="1400">
              <a:uFillTx/>
              <a:latin typeface="Calibri" panose="020F0502020204030204" charset="0"/>
              <a:sym typeface="+mn-ea"/>
            </a:endParaRPr>
          </a:p>
          <a:p>
            <a:pPr lvl="1" indent="0" algn="just">
              <a:buNone/>
            </a:pPr>
            <a:r>
              <a:rPr lang="en-US" altLang="en-US" sz="1400">
                <a:uFillTx/>
                <a:latin typeface="Calibri" panose="020F0502020204030204" charset="0"/>
                <a:sym typeface="+mn-ea"/>
              </a:rPr>
              <a:t>6 → 4_plus</a:t>
            </a:r>
            <a:endParaRPr lang="en-US" altLang="en-US" sz="1400">
              <a:uFillTx/>
              <a:latin typeface="Calibri" panose="020F0502020204030204" charset="0"/>
              <a:sym typeface="+mn-ea"/>
            </a:endParaRPr>
          </a:p>
          <a:p>
            <a:pPr lvl="1" indent="0" algn="just">
              <a:buNone/>
            </a:pPr>
            <a:r>
              <a:rPr lang="en-US" altLang="en-US" sz="1400">
                <a:uFillTx/>
                <a:latin typeface="Calibri" panose="020F0502020204030204" charset="0"/>
                <a:sym typeface="+mn-ea"/>
              </a:rPr>
              <a:t>10 → 4_plus</a:t>
            </a:r>
            <a:endParaRPr lang="en-US" altLang="en-US" sz="1400">
              <a:uFillTx/>
              <a:latin typeface="Calibri" panose="020F0502020204030204" charset="0"/>
              <a:sym typeface="+mn-ea"/>
            </a:endParaRPr>
          </a:p>
          <a:p>
            <a:pPr lvl="1" indent="0" algn="just">
              <a:buNone/>
            </a:pPr>
            <a:r>
              <a:rPr lang="en-US" altLang="en-US" sz="1400">
                <a:uFillTx/>
                <a:latin typeface="Calibri" panose="020F0502020204030204" charset="0"/>
                <a:sym typeface="+mn-ea"/>
              </a:rPr>
              <a:t>4 or more → 4_plus</a:t>
            </a:r>
            <a:endParaRPr lang="en-US" altLang="en-US" sz="1400">
              <a:uFillTx/>
              <a:latin typeface="Calibri" panose="020F0502020204030204" charset="0"/>
              <a:sym typeface="+mn-ea"/>
            </a:endParaRPr>
          </a:p>
          <a:p>
            <a:pPr lvl="1" indent="0" algn="just">
              <a:buNone/>
            </a:pPr>
            <a:r>
              <a:rPr lang="en-US" altLang="en-US" sz="1400">
                <a:uFillTx/>
                <a:latin typeface="Calibri" panose="020F0502020204030204" charset="0"/>
                <a:sym typeface="+mn-ea"/>
              </a:rPr>
              <a:t>More than 6 → 4_plus</a:t>
            </a:r>
            <a:endParaRPr lang="en-US" altLang="en-US" sz="1400">
              <a:uFillTx/>
              <a:latin typeface="Calibri" panose="020F0502020204030204" charset="0"/>
              <a:sym typeface="+mn-ea"/>
            </a:endParaRPr>
          </a:p>
          <a:p>
            <a:pPr indent="0" algn="just">
              <a:buNone/>
            </a:pPr>
            <a:endParaRPr lang="en-US" altLang="en-US" sz="1400">
              <a:uFillTx/>
              <a:latin typeface="Calibri" panose="020F0502020204030204" charset="0"/>
              <a:sym typeface="+mn-ea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5141595" y="3061970"/>
            <a:ext cx="134620" cy="734060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384165" y="3275330"/>
            <a:ext cx="21964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 sz="1400" b="1">
                <a:latin typeface="Calibri" panose="020F0502020204030204" charset="0"/>
              </a:rPr>
              <a:t>WBC:</a:t>
            </a:r>
            <a:r>
              <a:rPr lang="de-DE" altLang="en-US" sz="1400">
                <a:latin typeface="Calibri" panose="020F0502020204030204" charset="0"/>
              </a:rPr>
              <a:t> strongly right skewed</a:t>
            </a:r>
            <a:endParaRPr lang="de-DE" altLang="en-US" sz="1400">
              <a:latin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7"/>
              <p:cNvSpPr txBox="1"/>
              <p:nvPr/>
            </p:nvSpPr>
            <p:spPr>
              <a:xfrm>
                <a:off x="6306185" y="5695315"/>
                <a:ext cx="2751455" cy="9328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de-DE" altLang="en-US" sz="2800">
                    <a:latin typeface="Calibri" panose="020F0502020204030204" charset="0"/>
                  </a:rPr>
                  <a:t>z</a:t>
                </a:r>
                <a14:m>
                  <m:oMath xmlns:m="http://schemas.openxmlformats.org/officeDocument/2006/math">
                    <m:r>
                      <a:rPr lang="en-US" altLang="de-DE" sz="28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de-DE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de-DE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𝑥−</m:t>
                        </m:r>
                        <m:r>
                          <a:rPr lang="en-US" altLang="de-DE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𝜇</m:t>
                        </m:r>
                        <m:r>
                          <a:rPr lang="en-US" altLang="de-DE" sz="2800" i="1" baseline="-2500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𝑡𝑟𝑎𝑖𝑛</m:t>
                        </m:r>
                      </m:num>
                      <m:den>
                        <m:r>
                          <a:rPr lang="en-US" altLang="de-DE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  <m:r>
                          <a:rPr lang="en-US" altLang="de-DE" sz="2800" i="1" baseline="-2500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𝑡𝑟𝑎𝑖𝑛</m:t>
                        </m:r>
                      </m:den>
                    </m:f>
                  </m:oMath>
                </a14:m>
                <a:endParaRPr lang="en-US" altLang="de-DE" sz="28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185" y="5695315"/>
                <a:ext cx="2751455" cy="9328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6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Protocol information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Protocol may reflect: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sym typeface="+mn-ea"/>
            </a:endParaRPr>
          </a:p>
          <a:p>
            <a:pPr lvl="1"/>
            <a:r>
              <a:rPr lang="en-US" altLang="en-US" sz="16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treatment assignment</a:t>
            </a:r>
            <a:endParaRPr lang="en-US" altLang="en-US" sz="1600" spc="0">
              <a:solidFill>
                <a:schemeClr val="tx1"/>
              </a:solidFill>
              <a:uFillTx/>
              <a:latin typeface="Calibri" panose="020F0502020204030204" charset="0"/>
              <a:sym typeface="+mn-ea"/>
            </a:endParaRPr>
          </a:p>
          <a:p>
            <a:pPr lvl="1"/>
            <a:r>
              <a:rPr lang="en-US" altLang="en-US" sz="16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study period</a:t>
            </a:r>
            <a:endParaRPr lang="en-US" altLang="en-US" sz="1600" spc="0">
              <a:solidFill>
                <a:schemeClr val="tx1"/>
              </a:solidFill>
              <a:uFillTx/>
              <a:latin typeface="Calibri" panose="020F0502020204030204" charset="0"/>
              <a:sym typeface="+mn-ea"/>
            </a:endParaRPr>
          </a:p>
          <a:p>
            <a:pPr lvl="1"/>
            <a:r>
              <a:rPr lang="en-US" altLang="en-US" sz="16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hospital-specific practice</a:t>
            </a:r>
            <a:endParaRPr lang="en-US" altLang="en-US" sz="1600" spc="0">
              <a:solidFill>
                <a:schemeClr val="tx1"/>
              </a:solidFill>
              <a:uFillTx/>
              <a:latin typeface="Calibri" panose="020F0502020204030204" charset="0"/>
              <a:sym typeface="+mn-ea"/>
            </a:endParaRPr>
          </a:p>
          <a:p>
            <a:pPr lvl="1"/>
            <a:r>
              <a:rPr lang="en-US" altLang="en-US" sz="16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eligibility criteria</a:t>
            </a:r>
            <a:endParaRPr lang="en-US" altLang="en-US" sz="1600" spc="0">
              <a:solidFill>
                <a:schemeClr val="tx1"/>
              </a:solidFill>
              <a:uFillTx/>
              <a:latin typeface="Calibri" panose="020F0502020204030204" charset="0"/>
              <a:sym typeface="+mn-ea"/>
            </a:endParaRPr>
          </a:p>
          <a:p>
            <a:pPr lvl="1"/>
            <a:r>
              <a:rPr lang="en-US" altLang="en-US" sz="16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differences between clinical cohorts</a:t>
            </a:r>
            <a:endParaRPr lang="en-US" altLang="en-US" sz="1600" spc="0">
              <a:solidFill>
                <a:schemeClr val="tx1"/>
              </a:solidFill>
              <a:uFillTx/>
              <a:latin typeface="Calibri" panose="020F0502020204030204" charset="0"/>
              <a:sym typeface="+mn-ea"/>
            </a:endParaRPr>
          </a:p>
          <a:p>
            <a:r>
              <a:rPr lang="de-DE" altLang="en-US" sz="18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Protocol information was excluded because it</a:t>
            </a:r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 can reduce generalizability to:</a:t>
            </a:r>
            <a:r>
              <a:rPr lang="de-DE" altLang="en-US" sz="18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 </a:t>
            </a:r>
            <a:endParaRPr lang="de-DE" altLang="en-US" sz="1800" spc="0">
              <a:solidFill>
                <a:schemeClr val="tx1"/>
              </a:solidFill>
              <a:uFillTx/>
              <a:latin typeface="Calibri" panose="020F050202020403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another hospital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another treatment era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another protocol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sym typeface="+mn-ea"/>
              </a:rPr>
              <a:t>future patients receiving newer treatment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</a:endParaRPr>
          </a:p>
          <a:p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8390" y="541725"/>
            <a:ext cx="10969200" cy="705600"/>
          </a:xfrm>
        </p:spPr>
        <p:txBody>
          <a:bodyPr>
            <a:normAutofit fontScale="90000"/>
          </a:bodyPr>
          <a:p>
            <a:r>
              <a:rPr lang="de-DE" altLang="en-US">
                <a:latin typeface="Calibri" panose="020F0502020204030204" charset="0"/>
              </a:rPr>
              <a:t>Outputs of the normalization: survival_ready splits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52145" y="1501775"/>
            <a:ext cx="3449955" cy="15659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240" y="1414780"/>
            <a:ext cx="3933825" cy="15481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45" y="3695700"/>
            <a:ext cx="5234940" cy="24314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4525" y="4323080"/>
            <a:ext cx="3741420" cy="117602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010" y="1547495"/>
            <a:ext cx="8342630" cy="41084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 spc="0">
                <a:latin typeface="Calibri" panose="020F0502020204030204" charset="0"/>
                <a:sym typeface="+mn-ea"/>
              </a:rPr>
              <a:t>Dataset Normalization: Clinical Sample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validating patient IDs and columns</a:t>
            </a:r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removing non-informative metadata from´predictors (input columns to predict survival)</a:t>
            </a:r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preserves binary genomic variables as 0</a:t>
            </a:r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/1</a:t>
            </a:r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log-transforms</a:t>
            </a:r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and standardizing</a:t>
            </a:r>
            <a:r>
              <a:rPr lang="en-US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FLT3 allelic ratio</a:t>
            </a:r>
            <a:r>
              <a:rPr lang="en-US" altLang="en-US" spc="0">
                <a:solidFill>
                  <a:schemeClr val="tx1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Arial" panose="020B0604020202020204" pitchFamily="34" charset="0"/>
              </a:rPr>
              <a:t>because highly right-skewed</a:t>
            </a:r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Arial" panose="020B0604020202020204" pitchFamily="34" charset="0"/>
            </a:endParaRPr>
          </a:p>
          <a:p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Arial" panose="020B0604020202020204" pitchFamily="34" charset="0"/>
            </a:endParaRPr>
          </a:p>
          <a:p>
            <a:endParaRPr lang="en-US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720215"/>
            <a:ext cx="7314565" cy="8375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" y="3318510"/>
            <a:ext cx="6927215" cy="3067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80" y="3625215"/>
            <a:ext cx="4839970" cy="3771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Merged dataset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</a:rPr>
              <a:t>clinical patient + clinical sample</a:t>
            </a:r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</a:endParaRPr>
          </a:p>
          <a:p>
            <a:r>
              <a:rPr lang="en-US" altLang="en-US" spc="0">
                <a:solidFill>
                  <a:schemeClr val="tx1"/>
                </a:solidFill>
                <a:uFillTx/>
                <a:latin typeface="Calibri" panose="020F0502020204030204" charset="0"/>
              </a:rPr>
              <a:t>All three</a:t>
            </a:r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</a:rPr>
              <a:t> (train,test,val)</a:t>
            </a:r>
            <a:r>
              <a:rPr lang="en-US" altLang="en-US" spc="0">
                <a:solidFill>
                  <a:schemeClr val="tx1"/>
                </a:solidFill>
                <a:uFillTx/>
                <a:latin typeface="Calibri" panose="020F0502020204030204" charset="0"/>
              </a:rPr>
              <a:t> combined datasets have identical column names and column order.</a:t>
            </a:r>
            <a:endParaRPr lang="en-US" altLang="en-US" spc="0">
              <a:solidFill>
                <a:schemeClr val="tx1"/>
              </a:solidFill>
              <a:uFillTx/>
              <a:latin typeface="Calibri" panose="020F050202020403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790" y="3289935"/>
            <a:ext cx="3027045" cy="13690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4621</Words>
  <Application>WPS Presentation</Application>
  <PresentationFormat>Widescreen</PresentationFormat>
  <Paragraphs>220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Cambria Math</vt:lpstr>
      <vt:lpstr>WPS</vt:lpstr>
      <vt:lpstr> Data Imputation - AML Dataset</vt:lpstr>
      <vt:lpstr>Proposed AML Pipeline (first survival, then digital twins)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Clinical Sample - AML Dataset</dc:title>
  <dc:creator/>
  <cp:lastModifiedBy>Ayca Öztürk</cp:lastModifiedBy>
  <cp:revision>12</cp:revision>
  <dcterms:created xsi:type="dcterms:W3CDTF">2026-07-16T22:38:02Z</dcterms:created>
  <dcterms:modified xsi:type="dcterms:W3CDTF">2026-07-20T08:39:58Z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6A02ABB6DCEC4F55A9149F1ADF071D16_12</vt:lpwstr>
  </property>
</Properties>
</file>